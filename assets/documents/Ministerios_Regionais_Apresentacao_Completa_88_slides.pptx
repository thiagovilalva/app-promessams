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4" r:id="rId8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905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C334B-4BD4-B295-C987-D92A4283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C46FA-2716-B726-A7C6-4CE090553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8367C-54D6-389D-7DB1-E7E7C417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74E37-5C5E-8437-0FEE-187E10C1B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4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3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Operacionalização da Visão Missional da Convenção Regional</a:t>
            </a:r>
            <a:endParaRPr lang="pt-BR" sz="18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Alinhamento e Capacitação para Líderes Regionais</a:t>
            </a:r>
            <a:endParaRPr lang="pt-BR" sz="13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Regional Sul-Mato-Grossense das Igrejas Adventista da Promessa</a:t>
            </a:r>
            <a:endParaRPr lang="pt-BR" sz="1100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2D60152-0D64-6755-AA81-1229EC13C7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840" r="4765" b="34987"/>
          <a:stretch>
            <a:fillRect/>
          </a:stretch>
        </p:blipFill>
        <p:spPr>
          <a:xfrm>
            <a:off x="414654" y="22530"/>
            <a:ext cx="3143729" cy="1029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alinhar os ministérios regionais?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POR QUE ESTE DOCUMENTO EXISTE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BR" sz="13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Filosofia da Semente define por que a igreja existe: </a:t>
            </a:r>
            <a:r>
              <a:rPr lang="pt-BR" sz="1300" b="1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da missão de Deus, formando discípulos que fazem discípulos. </a:t>
            </a:r>
            <a:r>
              <a:rPr lang="pt-BR" sz="13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Sementes organiza como essa visão se torna prática nas igrejas locais. Mas havia uma lacuna: como os ministérios regionais cooperam para tornar ambos visíveis e funcional?</a:t>
            </a:r>
            <a:endParaRPr lang="pt-BR" sz="1300" noProof="0" dirty="0"/>
          </a:p>
          <a:p>
            <a:pPr marL="0" indent="0">
              <a:buNone/>
            </a:pPr>
            <a:r>
              <a:rPr lang="pt-BR" sz="13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responde essa pergunta. Ele estabelece que cada ministério regional não é um fim em si mesmo, mas um instrumento de serviço, capacitação e transferência de capacidade às igrejas locais.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508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8745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que um ministério regional atua em uma igreja, essa igreja fica mais capaz de acolher, cultivar, acompanhar, ensinar, integrar, enviar e multiplicar discípulos?</a:t>
            </a:r>
            <a:endParaRPr lang="pt-BR" sz="1700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4BB6B44-F997-D978-CEDA-68B47D91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Filosofia, Projeto e Ministérios Regionais: Três Movimentos Integrados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ESSENCIAL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98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 da Semente</a:t>
            </a:r>
            <a:endParaRPr lang="pt-B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Por quê?</a:t>
            </a:r>
            <a:endParaRPr lang="pt-B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teológica, identidade, critérios de fidelidade</a:t>
            </a:r>
            <a:endParaRPr lang="pt-BR" sz="1050"/>
          </a:p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vida da igreja local</a:t>
            </a:r>
            <a:endParaRPr lang="pt-BR" sz="1050"/>
          </a:p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Cristo, Palavra, missão, discipulado, amor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298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Sementes</a:t>
            </a:r>
            <a:endParaRPr lang="pt-B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Como?</a:t>
            </a:r>
            <a:endParaRPr lang="pt-B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011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prático, ações, equipes, fases, acompanhamento</a:t>
            </a:r>
            <a:endParaRPr lang="pt-BR" sz="1050"/>
          </a:p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operacional principal</a:t>
            </a:r>
            <a:endParaRPr lang="pt-BR" sz="1050"/>
          </a:p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Campanhas, estudos, grupos de apoio, integração, multiplicação</a:t>
            </a:r>
            <a:endParaRPr lang="pt-BR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298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</a:t>
            </a:r>
            <a:endParaRPr lang="pt-B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Com que apoio?</a:t>
            </a:r>
            <a:endParaRPr lang="pt-B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0116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Capacitação, mentoria, transferência de capacidade</a:t>
            </a:r>
            <a:endParaRPr lang="pt-BR" sz="1050"/>
          </a:p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igrejas locais</a:t>
            </a:r>
            <a:endParaRPr lang="pt-BR" sz="1050"/>
          </a:p>
          <a:p>
            <a:pPr marL="0" indent="0">
              <a:spcAft>
                <a:spcPts val="500"/>
              </a:spcAft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Palavras-chave: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treinamento, materiais, mentoria, sucessão</a:t>
            </a:r>
            <a:endParaRPr lang="pt-BR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502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importante: </a:t>
            </a:r>
            <a:r>
              <a:rPr lang="pt-BR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movimentos são inseparáveis. Sem a filosofia, o projeto vira ativismo. Sem o projeto, a filosofia vira discurso. Sem os ministérios regionais, as igrejas locais tem seus ministério isoladas e sem suporte.</a:t>
            </a:r>
            <a:endParaRPr lang="pt-BR" sz="11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8F4260D-1B5C-CC6A-B9DE-02204A339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Princípios que Guiam Todo Ministério Regional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ATUAÇÃO DOS MINISTÉRIOS REGIONAIS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1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à Igreja Local</a:t>
            </a:r>
            <a:endParaRPr lang="pt-BR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8470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ação começa por uma necessidade real e termina com ganho de capacidade local. Não é sobre o que o regional quer fazer; é sobre o que a igreja precisa.</a:t>
            </a:r>
            <a:endParaRPr lang="pt-BR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2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Cristocentrismo e Palavra</a:t>
            </a:r>
            <a:endParaRPr lang="pt-BR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8470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 e materiais apontam para Cristo, a Escritura, a oração, a obediência e o amor. Nenhuma ação é técnica isolada.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3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Substituição</a:t>
            </a:r>
            <a:endParaRPr lang="pt-BR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8470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ministério regional apoia, modela e supervisiona; não assume indefinidamente tarefas locais. Quem faz é a igreja; o regional capacita quem faz.</a:t>
            </a:r>
            <a:endParaRPr lang="pt-BR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4</a:t>
            </a:r>
            <a:endParaRPr lang="pt-BR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 com Unidade</a:t>
            </a:r>
            <a:endParaRPr lang="pt-BR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18470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varia conforme cidade, tamanho, recursos e público; os princípios permanecem. Não é um tamanho único para todas as igrejas.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5</a:t>
            </a:r>
            <a:endParaRPr lang="pt-BR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Capacidade</a:t>
            </a:r>
            <a:endParaRPr lang="pt-BR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85216" y="36301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intervenção inclui alguém local aprendendo, praticando e assumindo. O ciclo tem começo, meio e fim.</a:t>
            </a:r>
            <a:endParaRPr lang="pt-BR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6</a:t>
            </a:r>
            <a:endParaRPr lang="pt-BR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e Dignidade</a:t>
            </a:r>
            <a:endParaRPr lang="pt-BR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670048" y="36301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Consentimento, privacidade e segurança orientam contatos e registros. Pessoas não são projetos.</a:t>
            </a:r>
            <a:endParaRPr lang="pt-BR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7</a:t>
            </a:r>
            <a:endParaRPr lang="pt-BR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e Correção</a:t>
            </a:r>
            <a:endParaRPr lang="pt-BR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6301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são avaliados antes de ampliados; erros geram correção, não culpa. A falha é parte do aprendizado.</a:t>
            </a:r>
            <a:endParaRPr lang="pt-BR" sz="100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8</a:t>
            </a:r>
            <a:endParaRPr lang="pt-BR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839712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pt-BR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39712" y="36301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Recursos, agendas, responsabilidades e resultados são registrados proporcionalmente. Nada é oculto.</a:t>
            </a:r>
            <a:endParaRPr lang="pt-BR" sz="100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C87CBE49-A810-2B0A-A83C-81BADDF42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o quê? Três Níveis Claros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DECISÃO E RESPONSABILIDADES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16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</a:t>
            </a:r>
            <a:endParaRPr lang="pt-BR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Regional Colegiada</a:t>
            </a:r>
            <a:endParaRPr lang="pt-B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diretrizes regionais, aprova planos, acompanha indicadores, prioriza apoio, articula ministérios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a responsabilidade pastoral e ministerial da igreja local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o plano anual de um ministério regional; decide se uma ação será expandida, pausada ou retirada</a:t>
            </a:r>
            <a:endParaRPr lang="pt-BR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216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</a:t>
            </a:r>
            <a:endParaRPr lang="pt-BR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Pastor-Presidente e Conselho Local</a:t>
            </a:r>
            <a:endParaRPr lang="pt-B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 decisões estratégicas e financeiras locais, integram o Projeto à vida da igreja, aprovam prioridades e equipes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devem delegar ao ministério regional a direção da igreja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quantas equipes de Campanha de Oração a igreja consegue cuidar; aprova orçamento para materiais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216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3</a:t>
            </a:r>
            <a:endParaRPr lang="pt-BR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Regional</a:t>
            </a:r>
            <a:endParaRPr lang="pt-B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8288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Capacita, fornece materiais, oferece mentoria, apoia diagnósticos, acompanha ciclos, transfere capacidade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define sozinho agenda, orçamento extraordinário, assuntos sensível ou estrutura</a:t>
            </a:r>
            <a:endParaRPr lang="pt-BR" sz="10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líderes locais; oferece roteiros aprovados; acompanha por três meses; transfere à liderança local</a:t>
            </a:r>
            <a:endParaRPr lang="pt-BR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69080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r>
              <a:rPr lang="pt-BR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dúvida sobre quem decide, a resposta é: a instância mais próxima da realidade local decide, respeitando as diretrizes regionais.</a:t>
            </a:r>
            <a:endParaRPr lang="pt-BR" sz="11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8DB31D0-3AC2-7595-9034-EC85A9BB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Ministério Regional Atua: Do Diagnóstico ao Encerramento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DE ATUAÇÃO REGIONAL: OITO FASES (FASES 1 A 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ESCUTA E DIAGNÓSTICO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necessidade real?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a igreja, mapear recursos, barreiras e pessoas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prioridade justificada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Apoiar, aguardar ou encaminhar?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2551176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Shape 10"/>
          <p:cNvSpPr/>
          <p:nvPr/>
        </p:nvSpPr>
        <p:spPr>
          <a:xfrm>
            <a:off x="2688336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88336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DESENHO</a:t>
            </a:r>
            <a:endParaRPr lang="pt-BR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88336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será feito, por quem e quando?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plano de apoio com escopo, prazo e indicadores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aprovado pela Diretoria Regional e pastor local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piloto?</a:t>
            </a:r>
            <a:endParaRPr lang="pt-BR" sz="1000" dirty="0"/>
          </a:p>
        </p:txBody>
      </p:sp>
      <p:sp>
        <p:nvSpPr>
          <p:cNvPr id="16" name="Shape 14"/>
          <p:cNvSpPr/>
          <p:nvPr/>
        </p:nvSpPr>
        <p:spPr>
          <a:xfrm>
            <a:off x="4645152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5"/>
          <p:cNvSpPr/>
          <p:nvPr/>
        </p:nvSpPr>
        <p:spPr>
          <a:xfrm>
            <a:off x="4782312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 txBox="1"/>
          <p:nvPr/>
        </p:nvSpPr>
        <p:spPr>
          <a:xfrm>
            <a:off x="478231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82312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PREPARAÇÃO</a:t>
            </a:r>
            <a:endParaRPr lang="pt-BR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82312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ser formado?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equipe, preparar materiais, definir protocolo e agenda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designada, materiais prontos, segurança definida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início?</a:t>
            </a:r>
            <a:endParaRPr lang="pt-BR" sz="1000" dirty="0"/>
          </a:p>
        </p:txBody>
      </p:sp>
      <p:sp>
        <p:nvSpPr>
          <p:cNvPr id="21" name="Shape 19"/>
          <p:cNvSpPr/>
          <p:nvPr/>
        </p:nvSpPr>
        <p:spPr>
          <a:xfrm>
            <a:off x="6739128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6876288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CAPACITAÇÃO APLICADA</a:t>
            </a:r>
            <a:endParaRPr lang="pt-BR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consegue praticar?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teórico, demonstração, simulação e feedback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pratica com qualidade, recebe feedback específico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Continuar, ajustar ou pausar?</a:t>
            </a:r>
            <a:endParaRPr lang="pt-BR" sz="10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CA39466-4E39-C68A-C759-382594BD6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Ministério Regional Atua: Do Diagnóstico ao Encerramento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DE ATUAÇÃO REGIONAL: OITO FASES (FASES 5 A 8)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— MENTORIA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obstáculos surgiram?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regular, resolução de problemas, ajustes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mensal, reunião de mentoria, próximos passos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apoio proporcional?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2551176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Shape 10"/>
          <p:cNvSpPr/>
          <p:nvPr/>
        </p:nvSpPr>
        <p:spPr>
          <a:xfrm>
            <a:off x="2688336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88336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— TRANSFERÊNCIA</a:t>
            </a:r>
            <a:endParaRPr lang="pt-BR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88336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conduz sem presença regional?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atuação direta, fortalecer liderança local e sucessor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local, auxiliar e sucessor em funcionamento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atuação direta?</a:t>
            </a:r>
            <a:endParaRPr lang="pt-BR" sz="1000" dirty="0"/>
          </a:p>
        </p:txBody>
      </p:sp>
      <p:sp>
        <p:nvSpPr>
          <p:cNvPr id="16" name="Shape 14"/>
          <p:cNvSpPr/>
          <p:nvPr/>
        </p:nvSpPr>
        <p:spPr>
          <a:xfrm>
            <a:off x="4645152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5"/>
          <p:cNvSpPr/>
          <p:nvPr/>
        </p:nvSpPr>
        <p:spPr>
          <a:xfrm>
            <a:off x="4782312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 txBox="1"/>
          <p:nvPr/>
        </p:nvSpPr>
        <p:spPr>
          <a:xfrm>
            <a:off x="478231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82312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— AVALIAÇÃO</a:t>
            </a:r>
            <a:endParaRPr lang="pt-BR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82312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fidelidade, cuidado e fruto?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indicadores, escutar equipe, avaliar permanência e maturidade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avaliação, decisões documentadas</a:t>
            </a:r>
            <a:endParaRPr lang="pt-BR" sz="1000" dirty="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Escalar, adaptar, pausar ou encerrar?</a:t>
            </a:r>
            <a:endParaRPr lang="pt-BR" sz="1000" dirty="0"/>
          </a:p>
        </p:txBody>
      </p:sp>
      <p:sp>
        <p:nvSpPr>
          <p:cNvPr id="21" name="Shape 19"/>
          <p:cNvSpPr/>
          <p:nvPr/>
        </p:nvSpPr>
        <p:spPr>
          <a:xfrm>
            <a:off x="6739128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6876288" y="132588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 — PÓS-CICLO</a:t>
            </a:r>
            <a:endParaRPr lang="pt-BR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2331720"/>
            <a:ext cx="1691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preservar capacidade?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acompanhamento leve, encerrar ou iniciar novo ciclo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manutenção ou encerramento</a:t>
            </a:r>
            <a:endParaRPr lang="pt-BR" sz="1000"/>
          </a:p>
          <a:p>
            <a:pPr marL="0" indent="0">
              <a:spcAft>
                <a:spcPts val="500"/>
              </a:spcAft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ou iniciar novo ciclo?</a:t>
            </a:r>
            <a:endParaRPr lang="pt-BR" sz="10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C99FC883-EB26-64FE-F1DA-D232FAEDDE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Diretoria Regional Decide Onde Investir Primeiro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PRIORIZAÇÃO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1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63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Pastoral ou Risco</a:t>
            </a:r>
            <a:endParaRPr lang="pt-BR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risco de descontinuidade do cuidado? Há situação que exige resposta imediata?</a:t>
            </a:r>
            <a:endParaRPr lang="pt-BR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2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463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Direto</a:t>
            </a:r>
            <a:endParaRPr lang="pt-BR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96596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conecta claramente com a Filosofia e o Projeto Sementes?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3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463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Disposta</a:t>
            </a:r>
            <a:endParaRPr lang="pt-BR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96596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pastor-presidente e a liderança local estão dispostos a aprender e assumir?</a:t>
            </a:r>
            <a:endParaRPr lang="pt-BR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1280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4</a:t>
            </a:r>
            <a:endParaRPr lang="pt-BR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463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de Piloto</a:t>
            </a:r>
            <a:endParaRPr lang="pt-BR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196596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começar pequeno, acompanhar bem e depois expandir?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5</a:t>
            </a:r>
            <a:endParaRPr lang="pt-BR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" y="3246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Replicação</a:t>
            </a:r>
            <a:endParaRPr lang="pt-BR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85216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funciona em uma igreja pode ser aprendido e replicado em outras?</a:t>
            </a:r>
            <a:endParaRPr lang="pt-BR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6</a:t>
            </a:r>
            <a:endParaRPr lang="pt-BR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3246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 Regional</a:t>
            </a:r>
            <a:endParaRPr lang="pt-BR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670048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apoio está distribuído sem concentrar tudo nas igrejas mais visíveis?</a:t>
            </a:r>
            <a:endParaRPr lang="pt-BR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7</a:t>
            </a:r>
            <a:endParaRPr lang="pt-BR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3246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Normativa</a:t>
            </a:r>
            <a:endParaRPr lang="pt-BR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respeita o Estatuto, o Regimento, as normas da IAP e as decisões da Convenção?</a:t>
            </a:r>
            <a:endParaRPr lang="pt-BR" sz="100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3063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PRUDENCIAL</a:t>
            </a:r>
            <a:endParaRPr lang="pt-BR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839712" y="329184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preferível um ciclo menor, bem acompanhado e transferido, do que uma expansão ampla sem cuidado, sucessão ou prestação de contas.</a:t>
            </a:r>
            <a:endParaRPr lang="pt-BR" sz="95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3C6F590E-9558-9D83-86EA-74964C953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Funções que Definem a Atuação Regional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COMUNS DE TODO MINISTÉRIO REGIONAL (FUNÇÕES 1 A 5)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43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pt-BR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143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pt-BR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143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ESPERADA</a:t>
            </a:r>
            <a:endParaRPr lang="pt-BR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Shape 8"/>
          <p:cNvSpPr/>
          <p:nvPr/>
        </p:nvSpPr>
        <p:spPr>
          <a:xfrm>
            <a:off x="566928" y="1499616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37160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A VISÃO</a:t>
            </a:r>
            <a:endParaRPr lang="pt-B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1371600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Filosofia e Projeto para os desafios do ministério</a:t>
            </a:r>
            <a:endParaRPr lang="pt-BR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371600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aplicação e exemplos aprovados</a:t>
            </a:r>
            <a:endParaRPr lang="pt-BR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2996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14"/>
          <p:cNvSpPr/>
          <p:nvPr/>
        </p:nvSpPr>
        <p:spPr>
          <a:xfrm>
            <a:off x="566928" y="2157984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02996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</a:t>
            </a:r>
            <a:endParaRPr lang="pt-BR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2029968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igrejas, mapear necessidades, recursos e barreiras</a:t>
            </a:r>
            <a:endParaRPr lang="pt-BR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029968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prioridade justificada</a:t>
            </a:r>
            <a:endParaRPr lang="pt-BR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566928" y="2816352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68833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268833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Ensinar, demonstrar, simular e acompanhar aplicação</a:t>
            </a:r>
            <a:endParaRPr lang="pt-BR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688336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praticam e recebem feedback</a:t>
            </a:r>
            <a:endParaRPr lang="pt-BR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3474720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334670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MENTOREAR</a:t>
            </a:r>
            <a:endParaRPr lang="pt-BR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3346704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líderes em ciclos curtos e concretos</a:t>
            </a:r>
            <a:endParaRPr lang="pt-BR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334670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Reuniões, decisões e próximos passos registrados</a:t>
            </a:r>
            <a:endParaRPr lang="pt-BR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0507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Shape 32"/>
          <p:cNvSpPr/>
          <p:nvPr/>
        </p:nvSpPr>
        <p:spPr>
          <a:xfrm>
            <a:off x="566928" y="4133088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40050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</a:t>
            </a:r>
            <a:endParaRPr lang="pt-BR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11880" y="4005072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ministérios, igrejas e Diretoria Regional</a:t>
            </a:r>
            <a:endParaRPr lang="pt-BR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400507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integrado sem duplicidade de ações</a:t>
            </a:r>
            <a:endParaRPr lang="pt-BR" sz="10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4B1BBDDA-37C5-192D-66AA-4508F7B3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Funções que Definem a Atuação Regional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COMUNS DE TODO MINISTÉRIO REGIONAL (FUNÇÕES 6 A 10)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43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pt-BR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143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pt-BR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143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ESPERADA</a:t>
            </a:r>
            <a:endParaRPr lang="pt-BR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Shape 8"/>
          <p:cNvSpPr/>
          <p:nvPr/>
        </p:nvSpPr>
        <p:spPr>
          <a:xfrm>
            <a:off x="566928" y="1499616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37160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 RECURSOS</a:t>
            </a:r>
            <a:endParaRPr lang="pt-B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1371600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materiais simples, aprovados e reutilizáveis</a:t>
            </a:r>
            <a:endParaRPr lang="pt-BR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371600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usa e adapta sem depender do autor</a:t>
            </a:r>
            <a:endParaRPr lang="pt-BR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2996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14"/>
          <p:cNvSpPr/>
          <p:nvPr/>
        </p:nvSpPr>
        <p:spPr>
          <a:xfrm>
            <a:off x="566928" y="2157984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02996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SUCESSORES</a:t>
            </a:r>
            <a:endParaRPr lang="pt-BR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2029968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auxiliar e delegar progressivamente</a:t>
            </a:r>
            <a:endParaRPr lang="pt-BR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029968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local em desenvolvimento e assumindo</a:t>
            </a:r>
            <a:endParaRPr lang="pt-BR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566928" y="2816352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68833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268833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indicadores, testemunhos e escuta</a:t>
            </a:r>
            <a:endParaRPr lang="pt-BR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688336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 decisões claras</a:t>
            </a:r>
            <a:endParaRPr lang="pt-BR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3474720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334670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 OU REDUZIR</a:t>
            </a:r>
            <a:endParaRPr lang="pt-BR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3346704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atuação direta quando houver capacidade local</a:t>
            </a:r>
            <a:endParaRPr lang="pt-BR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334670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encerramento e plano de manutenção</a:t>
            </a:r>
            <a:endParaRPr lang="pt-BR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0507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Shape 32"/>
          <p:cNvSpPr/>
          <p:nvPr/>
        </p:nvSpPr>
        <p:spPr>
          <a:xfrm>
            <a:off x="566928" y="4133088"/>
            <a:ext cx="329184" cy="329184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40050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E ENCAMINHAR</a:t>
            </a:r>
            <a:endParaRPr lang="pt-BR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11880" y="4005072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segurança, privacidade, cuidado de vulneráveis e encaminhamento de riscos</a:t>
            </a:r>
            <a:endParaRPr lang="pt-BR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400507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seguidos, situações encaminhadas adequadamente</a:t>
            </a:r>
            <a:endParaRPr lang="pt-BR" sz="10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664EC971-5374-3B83-2AF8-652FD55A6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Proclamação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EVANGELISMO E PROCLAMAÇÃO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portas relacionais, apresenta o evangelho com clareza, prepara equipes de Campanha de Oração no Lar, encaminha ao discipulado e forma evangelistas locais.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sem continuidade; campanhas que terminam sem acompanhamento; pressão por números; isolamento da proclamação do discipulado.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escuta e testemunho relacional</a:t>
            </a:r>
            <a:endParaRPr lang="pt-BR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ações públicas, lares, grupos e cultos</a:t>
            </a:r>
            <a:endParaRPr lang="pt-BR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responsável e próximo passo para cada contato</a:t>
            </a:r>
            <a:endParaRPr lang="pt-BR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permanência, não apenas decisões ou batismos</a:t>
            </a:r>
            <a:endParaRPr lang="pt-BR" sz="11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38903FD-4E45-A0CF-CCB3-CE326320B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EVANGELISMO E PROCLAMAÇÃO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O EVANGELISMO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proclamação aprovado e contextualizado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bíblico claro sobre salvação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atividade de serviço que abre porta de relacionamento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convite respeitosa e voluntária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acompanhamento após o contato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significativas iniciadas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Convites realizados sem pressão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iniciados (Discipulado Um)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e acompanhamentos realizados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permanência em 3, 6 e 12 meses</a:t>
            </a:r>
            <a:endParaRPr lang="pt-B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16" name="Shape 14"/>
          <p:cNvSpPr/>
          <p:nvPr/>
        </p:nvSpPr>
        <p:spPr>
          <a:xfrm>
            <a:off x="1856232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929384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2-3 duplas</a:t>
            </a:r>
            <a:endParaRPr lang="pt-BR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19" name="Shape 17"/>
          <p:cNvSpPr/>
          <p:nvPr/>
        </p:nvSpPr>
        <p:spPr>
          <a:xfrm>
            <a:off x="3255264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3328416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mês de campanhas com mentor regional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22" name="Shape 20"/>
          <p:cNvSpPr/>
          <p:nvPr/>
        </p:nvSpPr>
        <p:spPr>
          <a:xfrm>
            <a:off x="4654296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mês com redução de presença</a:t>
            </a:r>
            <a:endParaRPr lang="pt-B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Terceiro mês com transferência</a:t>
            </a:r>
            <a:endParaRPr lang="pt-BR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7525512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 decisão sobre continuidade</a:t>
            </a:r>
            <a:endParaRPr lang="pt-BR" sz="95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E1C5BD3E-48AD-0CE3-061B-97CFBFB55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9D58B3-B9C8-AB88-3F53-529568E2BCC2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Proclamação Coopera com o Projeto Sementes</a:t>
            </a:r>
            <a:endParaRPr lang="pt-BR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Ensino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CRISTÃ E DISCIPULADO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materiais oficiais, Escola Bíblica, Discipulados Um, Dois e Três, grupos de apoio e formação de líderes. Ensina conteúdo, método, escuta e cuidado, preservando doutrina e encaminhando questões pastorais ou profissionais (se necessário).</a:t>
            </a:r>
            <a:endParaRPr lang="pt-BR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desconectado da vida; estudos que não levam a decisão ou transformação; negligência do acompanhamento após o batismo; pressão doutrinária sem amor.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Escola Bíblica ao fluxo do Projeto (não como programa paralelo)</a:t>
            </a:r>
            <a:endParaRPr lang="pt-BR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líderes de Discipulado Um, Dois e Três</a:t>
            </a:r>
            <a:endParaRPr lang="pt-BR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materiais aprovados, simples e contextualizados</a:t>
            </a:r>
            <a:endParaRPr lang="pt-BR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qualidade do ensino e compreensão dos participantes</a:t>
            </a:r>
            <a:endParaRPr lang="pt-BR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questões sensíveis (dúvidas doutrinárias, crises espirituais, abuso)</a:t>
            </a:r>
            <a:endParaRPr lang="pt-BR" sz="1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C593838-EFAE-9285-F9C0-3B42A7436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Ensino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CRISTÃ E DISCIPULADO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O ENSINO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"Proclamar, Batizar e Ensinar" com clareza de fases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aprovados de Discipulado Um, Dois e Três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para Escola Bíblica integrados ao Projeto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avaliação e encaminhamento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formação de professores e líderes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de discipulado treinados e acompanhados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de discipulado realizados com qualidade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doutrinárias resolvidas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conclusão de estudos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batizados com compreensão clara da fé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líderes em desenvolvimento</a:t>
            </a:r>
            <a:endParaRPr lang="pt-B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16" name="Shape 14"/>
          <p:cNvSpPr/>
          <p:nvPr/>
        </p:nvSpPr>
        <p:spPr>
          <a:xfrm>
            <a:off x="1856232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929384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líderes</a:t>
            </a:r>
            <a:endParaRPr lang="pt-BR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19" name="Shape 17"/>
          <p:cNvSpPr/>
          <p:nvPr/>
        </p:nvSpPr>
        <p:spPr>
          <a:xfrm>
            <a:off x="3255264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3328416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encontros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22" name="Shape 20"/>
          <p:cNvSpPr/>
          <p:nvPr/>
        </p:nvSpPr>
        <p:spPr>
          <a:xfrm>
            <a:off x="4654296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 ajustes</a:t>
            </a:r>
            <a:endParaRPr lang="pt-B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069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7525512" y="384048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95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FA195A8-C493-4B97-62C9-CA8B90866D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Oração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 E ESPIRITUALIDADE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a oração como dependência contínua, apoiando campanhas de oração, intercessão, cuidado de líderes e discernimento espiritual. A oração não é atividade isolada; é o fundamento de toda a missão.</a:t>
            </a:r>
            <a:endParaRPr lang="pt-BR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301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práticas espirituais em competição entre ministérios; criar campanhas de oração desconectadas da ação; negligenciar o cuidado espiritual dos cuidadores; usar oração como fuga da ação.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oração em todas as fases do Projeto (não como item de abertura apenas)</a:t>
            </a:r>
            <a:endParaRPr lang="pt-BR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campanhas de oração nos lares como porta de entrada</a:t>
            </a:r>
            <a:endParaRPr lang="pt-BR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intercessão estruturada para líderes, igrejas e cidades</a:t>
            </a:r>
            <a:endParaRPr lang="pt-BR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espiritualmente dos voluntários e líderes</a:t>
            </a:r>
            <a:endParaRPr lang="pt-BR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discernimento e escuta do Espírito Santo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pedidos de oração e distribuir para os intercessores mais próximos geograficamente.</a:t>
            </a:r>
            <a:endParaRPr lang="pt-BR" sz="10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D743606-4800-6097-9026-8373E6364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Oração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 E ESPIRITUALIDADE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O MINISTÉRIO DE ORAÇÃO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Campanha de Oração no Lar aprovado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intercessão estruturada (pessoas, bairros, líderes)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oração para líderes e equipes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cuidado espiritual de voluntários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campanhas de oração integrado ao Projeto</a:t>
            </a:r>
            <a:endParaRPr lang="pt-BR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oração realizadas com regularidade</a:t>
            </a:r>
            <a:endParaRPr lang="pt-BR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Lares visitados e pessoas em oração</a:t>
            </a:r>
            <a:endParaRPr lang="pt-BR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com suporte espiritual e supervisão</a:t>
            </a:r>
            <a:endParaRPr lang="pt-BR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Discernimento espiritual evidente nas decisões</a:t>
            </a:r>
            <a:endParaRPr lang="pt-BR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permanência e maturidade espiritual observada</a:t>
            </a:r>
            <a:endParaRPr lang="pt-BR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Renovação e prevenção de esgotamento entre voluntários</a:t>
            </a:r>
            <a:endParaRPr lang="pt-BR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6" name="Shape 14"/>
          <p:cNvSpPr/>
          <p:nvPr/>
        </p:nvSpPr>
        <p:spPr>
          <a:xfrm>
            <a:off x="1856232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901952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intercessores</a:t>
            </a:r>
            <a:endParaRPr lang="pt-BR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3255264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3300984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com mentor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2" name="Shape 20"/>
          <p:cNvSpPr/>
          <p:nvPr/>
        </p:nvSpPr>
        <p:spPr>
          <a:xfrm>
            <a:off x="4654296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líderes</a:t>
            </a:r>
            <a:endParaRPr lang="pt-B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5" name="Shape 23"/>
          <p:cNvSpPr/>
          <p:nvPr/>
        </p:nvSpPr>
        <p:spPr>
          <a:xfrm>
            <a:off x="6053328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6099048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95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D882B2D-B30E-EF11-A68C-59F6D789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Acolhimento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COMUNHÃO E INTEGRAÇÃO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 primeiro contato em relação respeitosa, pertencimento e próximo passo. A Igreja Acolhedora é cultura transversal, não apenas um departamento. Deve trabalhar com consentimento, acessibilidade e acompanhamento após o batismo.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301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 superficial sem seguimento; falta de acesso para pessoas com deficiência; negligência do cuidado de membros antigos; transformar acolhimento em pressão religiosa.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visitantes com genuína hospitalidade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necessidades e oferecer próximos passos voluntários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acessibilidade física, comunicativa e relacional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novos membros em grupos, ministérios e equipes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permanência em 3, 6, 12 e 24 meses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especialmente de membros idosos, antigos e afastados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consciência e praticas adequadas para a inclusão de pessoas atípicas.</a:t>
            </a:r>
            <a:endParaRPr lang="pt-BR" sz="1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C01861E-4363-4038-4AB9-217C8965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Acolhimento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ACOLHIMENTO, COMUNHÃO E INTEGRAÇÃO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O ACOLHIMENTO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recepção e acolhimento aprovado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interesse e dados (com consentimento)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claro de próximos passos (oração, campanha, estudo, grupo de apoio)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integração para novos membros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 acompanhamento de permanência (semáforo)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recebidos e acompanhados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definidos e aceitos voluntariamente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retorno de visitantes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membros integrados em grupos e ministérios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 em 3, 6, 12 e 24 meses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antigos reintegrados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verificada e melhorada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sensibilidade de pertencimento verificada</a:t>
            </a:r>
            <a:endParaRPr lang="pt-BR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6" name="Shape 14"/>
          <p:cNvSpPr/>
          <p:nvPr/>
        </p:nvSpPr>
        <p:spPr>
          <a:xfrm>
            <a:off x="1856232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901952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acolhedores</a:t>
            </a:r>
            <a:endParaRPr lang="pt-BR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3255264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3300984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visitantes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2" name="Shape 20"/>
          <p:cNvSpPr/>
          <p:nvPr/>
        </p:nvSpPr>
        <p:spPr>
          <a:xfrm>
            <a:off x="4654296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novos membros</a:t>
            </a:r>
            <a:endParaRPr lang="pt-B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5" name="Shape 23"/>
          <p:cNvSpPr/>
          <p:nvPr/>
        </p:nvSpPr>
        <p:spPr>
          <a:xfrm>
            <a:off x="6053328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6099048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95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5561F72-A764-E4F8-358A-3B8DC373F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Ação Social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SOCIAL, INCLUSÃO E CUIDADO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necessidades reais com dignidade, remove barreiras de participação e encaminha situações complexas. Não usa assistência como pressão religiosa nem promete cura, emprego ou solução financeira.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301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assistência como ferramenta de pressão religiosa; prometer soluções que não podem ser entregues; negligenciar barreiras de acesso para pessoas com deficiência; tratar pessoas como projetos; fazer ação social desconectada da Filosofia.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necessidades reais do bairro e entorno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com dignidade e sem condicionalidade religiosa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barreiras de acesso para pessoas com deficiência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participação responsável de crianças e adolescentes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situações que exigem profissional (saúde mental, jurídica, social)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ação social ao fluxo do Projeto (porta de entrada, Fase Zero)</a:t>
            </a:r>
            <a:endParaRPr lang="pt-BR" sz="1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6E27002-2054-9672-E893-B1ABEC340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Ação Social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SOCIAL, INCLUSÃO E CUIDADO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A AÇÃO SOCIAL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necessidades reais do bairro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social integrado ao Projeto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acessibilidade para pessoas com deficiência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encaminhamento para profissionais e serviços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atividade de serviço que abre porta de relacionamento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 identificadas e respondidas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atendidas com dignidade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com deficiência participando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 realizados adequadamente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social como porta de entrada (Fase Zero)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 de pessoas alcançadas pela ação social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Voluntários capacitados e protegidos</a:t>
            </a:r>
            <a:endParaRPr lang="pt-BR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6" name="Shape 14"/>
          <p:cNvSpPr/>
          <p:nvPr/>
        </p:nvSpPr>
        <p:spPr>
          <a:xfrm>
            <a:off x="1856232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901952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voluntários</a:t>
            </a:r>
            <a:endParaRPr lang="pt-BR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3255264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3300984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 serviço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2" name="Shape 20"/>
          <p:cNvSpPr/>
          <p:nvPr/>
        </p:nvSpPr>
        <p:spPr>
          <a:xfrm>
            <a:off x="4654296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famílias</a:t>
            </a:r>
            <a:endParaRPr lang="pt-B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5" name="Shape 23"/>
          <p:cNvSpPr/>
          <p:nvPr/>
        </p:nvSpPr>
        <p:spPr>
          <a:xfrm>
            <a:off x="6053328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6099048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40919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7947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840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95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EA453F97-2C36-88A5-1547-04E9D25F5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Jovem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JOVENS: FORMAR DISCÍPULOS COM LINGUAGEM PRÓPRIA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linguagem digital, energia, amizade e proclamação. Forma discípulos jovens que compartilham Cristo com a própria linguagem, sem negligenciar profundidade bíblica e maturidade espiritual.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301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ministério jovem a entretenimento; desconectar da Filosofia e do Projeto; negligenciar proteção e segurança; criar estrutura paralela ao Projeto; pressionar decisões.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encontros que conectem fé, amizade e ação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jovens em testemunho e proclamação relacional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linguagem digital e mídia de forma responsável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proteção, consentimento e supervisão de adultos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jovens em equipes de Campanha, Discipulado e Grupos de Apoio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líderes jovens com mentoria e sucessão</a:t>
            </a:r>
            <a:endParaRPr lang="pt-BR" sz="1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B63D144-021E-D12A-CE45-CB2393FDC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Jovem Coopera com o Projeto Sementes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JOVENS: FORMAR DISCÍPULOS COM LINGUAGEM PRÓPRIA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O MINISTÉRIO JOVEM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jovem com linguagem apropriada e conteúdo bíblico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testemunho e proclamação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serviço territorial com jovens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segurança e proteção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formação de líderes jovens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participando de encontros e equipes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compartilhando testemunho e convidando amigos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Amigos não cristãos acompanhados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jovens em desenvolvimento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permanência de jovens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 serviço realizadas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consentimento respeitados</a:t>
            </a:r>
            <a:endParaRPr lang="pt-BR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523129" y="40919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6" name="Shape 14"/>
          <p:cNvSpPr/>
          <p:nvPr/>
        </p:nvSpPr>
        <p:spPr>
          <a:xfrm>
            <a:off x="1651145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696865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testemunho</a:t>
            </a:r>
            <a:endParaRPr lang="pt-BR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717074" y="40919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2845090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2890810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e ações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911019" y="40919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2" name="Shape 20"/>
          <p:cNvSpPr/>
          <p:nvPr/>
        </p:nvSpPr>
        <p:spPr>
          <a:xfrm>
            <a:off x="4039035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084755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amigos</a:t>
            </a:r>
            <a:endParaRPr lang="pt-BR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104965" y="40919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5" name="Shape 23"/>
          <p:cNvSpPr/>
          <p:nvPr/>
        </p:nvSpPr>
        <p:spPr>
          <a:xfrm>
            <a:off x="5232981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5278701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líderes</a:t>
            </a:r>
            <a:endParaRPr lang="pt-BR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298910" y="40919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8" name="Shape 26"/>
          <p:cNvSpPr/>
          <p:nvPr/>
        </p:nvSpPr>
        <p:spPr>
          <a:xfrm>
            <a:off x="6426926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6472646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92855" y="40919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31" name="Shape 29"/>
          <p:cNvSpPr/>
          <p:nvPr/>
        </p:nvSpPr>
        <p:spPr>
          <a:xfrm>
            <a:off x="7620871" y="3794760"/>
            <a:ext cx="1065929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" name="Text 30"/>
          <p:cNvSpPr txBox="1"/>
          <p:nvPr/>
        </p:nvSpPr>
        <p:spPr>
          <a:xfrm>
            <a:off x="7666591" y="3840480"/>
            <a:ext cx="9744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95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4CD91C63-1B4F-0AD6-41EF-A4105816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Ministérios de Mulheres e Homens Cooperam com o Projeto Sementes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 HOMENS: REDES DE CUIDADO E SERVIÇO (1/4)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 MINISTÉRIO DE MULHERES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redes de relacionamento, oração, cuidado e convite. Mobilizar mulheres como semeadoras, criando círculos de intercessão e acolhimento que se tornam porta de entrada para o Projeto.</a:t>
            </a:r>
            <a:endParaRPr lang="pt-BR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 MINISTÉRIO DE HOMENS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pais, trabalhadores e líderes ao serviço missionário. Formar grupos de homens ligados a uma necessidade do bairro, criando ação social e proclamação com linguagem masculina.</a:t>
            </a:r>
            <a:endParaRPr lang="pt-BR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2160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estruturas paralelas ao Projeto; negligenciar a integração com outras equipes; reduzir ministério a eventos isolados; negligenciar cuidado de líderes e voluntários.</a:t>
            </a:r>
            <a:endParaRPr lang="pt-BR" sz="11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1DC8E0F-9708-B992-5F22-33715B33B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Ministérios de Mulheres e Homens Cooperam com o Projeto Sementes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 HOMENS: REDES DE CUIDADO E SERVIÇO (2/4)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 — MULHERES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facilitadoras de grupos em oração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lista de intercessão estruturada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acolhimento e cuidado a mulheres visitantes e novas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mulheres em equipes de Campanha, Discipulado e Grupos de Apoio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de mães, cuidadoras e mulheres fragilizadas (escuta ativa)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grupos de apoio mulheres (por aptidão ou faixa etária)</a:t>
            </a:r>
            <a:endParaRPr lang="pt-BR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 — HOMENS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duplas de escuta e discipulado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homens a uma necessidade real do bairro (reparos, construção, segurança)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grupo de apoio para pais, trabalhadores e líderes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homens em equipes de Campanha e Discipulado</a:t>
            </a:r>
            <a:endParaRPr lang="pt-BR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líderes homens com mentoria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grupos de homens por afinidade e ou faixa etária</a:t>
            </a:r>
            <a:endParaRPr lang="pt-BR" sz="11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991FDED-F17B-649D-9136-486555E477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Ministérios de Mulheres e Homens Cooperam com o Projeto Sementes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 HOMENS: REDES DE CUIDADO E SERVIÇO (3/4)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MULHERES ENTREGAM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encontro de mulheres</a:t>
            </a:r>
            <a:endParaRPr lang="pt-BR" sz="115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intercessão estruturada</a:t>
            </a:r>
            <a:endParaRPr lang="pt-BR" sz="115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acolhimento para mulheres visitantes</a:t>
            </a:r>
            <a:endParaRPr lang="pt-BR" sz="115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cuidado de mães e cuidadoras</a:t>
            </a:r>
            <a:endParaRPr lang="pt-BR" sz="115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integração em equipes</a:t>
            </a:r>
            <a:endParaRPr lang="pt-BR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HOMENS ENTREGAM À IGREJA LOCAL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homens ligado a uma necessidade do bairro</a:t>
            </a:r>
            <a:endParaRPr lang="pt-BR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encontro ou ação de serviço</a:t>
            </a:r>
            <a:endParaRPr lang="pt-BR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acolhimento para pais e trabalhadores</a:t>
            </a:r>
            <a:endParaRPr lang="pt-BR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formação de líderes - homens</a:t>
            </a:r>
            <a:endParaRPr lang="pt-BR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em equipes de Campanha e Discipulado</a:t>
            </a:r>
            <a:endParaRPr lang="pt-BR" sz="11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DDB2C86-30CA-FA03-EB33-9EBFE7208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Ministérios de Mulheres e Homens Cooperam com o Projeto Sementes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E HOMENS: REDES DE CUIDADO E SERVIÇO (4/4)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 — MULHERES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mobilizadas </a:t>
            </a:r>
            <a:endParaRPr lang="pt-BR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acompanhados</a:t>
            </a:r>
            <a:endParaRPr lang="pt-BR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Convidados não cristãos participando</a:t>
            </a:r>
            <a:endParaRPr lang="pt-BR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integradas em equipes</a:t>
            </a:r>
            <a:endParaRPr lang="pt-BR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permanência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 — HOMENS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Homens em duplas ou grupos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 serviço realizadas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contatos acompanhados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homens em formação</a:t>
            </a:r>
            <a:endParaRPr lang="pt-BR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permanência</a:t>
            </a:r>
            <a:endParaRPr lang="pt-B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373886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6" name="Shape 14"/>
          <p:cNvSpPr/>
          <p:nvPr/>
        </p:nvSpPr>
        <p:spPr>
          <a:xfrm>
            <a:off x="1501902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547622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facilitadores/grupos</a:t>
            </a:r>
            <a:endParaRPr lang="pt-BR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2418588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2546604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2592324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e ações</a:t>
            </a:r>
            <a:endParaRPr lang="pt-BR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463290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2" name="Shape 20"/>
          <p:cNvSpPr/>
          <p:nvPr/>
        </p:nvSpPr>
        <p:spPr>
          <a:xfrm>
            <a:off x="3591306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3637026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pt-BR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507992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5" name="Shape 23"/>
          <p:cNvSpPr/>
          <p:nvPr/>
        </p:nvSpPr>
        <p:spPr>
          <a:xfrm>
            <a:off x="4636008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em equipes</a:t>
            </a:r>
            <a:endParaRPr lang="pt-BR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552694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8" name="Shape 26"/>
          <p:cNvSpPr/>
          <p:nvPr/>
        </p:nvSpPr>
        <p:spPr>
          <a:xfrm>
            <a:off x="5680710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726430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líderes</a:t>
            </a:r>
            <a:endParaRPr lang="pt-BR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597396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31" name="Shape 29"/>
          <p:cNvSpPr/>
          <p:nvPr/>
        </p:nvSpPr>
        <p:spPr>
          <a:xfrm>
            <a:off x="6725412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" name="Text 30"/>
          <p:cNvSpPr txBox="1"/>
          <p:nvPr/>
        </p:nvSpPr>
        <p:spPr>
          <a:xfrm>
            <a:off x="6771132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642098" y="4023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34" name="Shape 32"/>
          <p:cNvSpPr/>
          <p:nvPr/>
        </p:nvSpPr>
        <p:spPr>
          <a:xfrm>
            <a:off x="7770114" y="3703320"/>
            <a:ext cx="916686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7815834" y="3749040"/>
            <a:ext cx="825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75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AF7E000E-9919-BCDB-063F-696C6D17A5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Crianças e Adolescentes Coopera com o Projeto Sementes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ADOLESCENTES: PROTEÇÃO E DISCIPULADO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PROJETO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discípulos com linguagem adequada à idade, sempre com proteção, participação familiar e supervisão de adultos habilitados. Crianças e adolescentes são prioridade; sua segurança é inegociável.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3016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individuais sem supervisão; falta de consentimento dos responsáveis; negligência de sinais de abuso; pressão para decisões; falta de acessibilidade; criar estrutura paralela ao Projeto.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ESPERADAS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professores e responsáveis sobre proteção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encontros por faixa etária com conteúdo apropriado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consentimento dos responsáveis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Supervisionar com dupla de adultos habilitados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regras de contato e deslocamento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imediatamente sinais de abuso ou risco</a:t>
            </a:r>
            <a:endParaRPr lang="pt-BR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crianças e adolescentes em equipes com proteção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grupos de comunhão por faixa etária – apoio de adultos habilitados</a:t>
            </a:r>
            <a:endParaRPr lang="pt-BR" sz="1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A163628-4830-A913-BE3C-C3996ABF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de Crianças e Adolescentes Coopera com o Projeto Sementes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ADOLESCENTES: PROTEÇÃO E DISCIPULADO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QUE O MINISTÉRIO MCA ENTREGA À IGREJA LOCAL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por faixa etária (crianças e adolescentes separados)</a:t>
            </a:r>
            <a:endParaRPr lang="pt-BR" sz="9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para casa com envolvimento de pais</a:t>
            </a:r>
            <a:endParaRPr lang="pt-BR" sz="9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acolhimento com proteção</a:t>
            </a:r>
            <a:endParaRPr lang="pt-BR" sz="9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segurança (dupla, consentimento, encaminhamento)</a:t>
            </a:r>
            <a:endParaRPr lang="pt-BR" sz="9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integração em equipes com supervisão</a:t>
            </a:r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apoio direcionado 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 acompanhados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contatadas e participando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treinados em proteção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registrado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abuso encaminhados imediatamente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 participando voluntariamente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envolvidas e apoiadas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permanência e integração</a:t>
            </a:r>
            <a:endParaRPr lang="pt-BR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pt-BR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incidentes de segurança negligenciados</a:t>
            </a:r>
            <a:endParaRPr lang="pt-BR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ESPERADO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373886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6" name="Shape 14"/>
          <p:cNvSpPr/>
          <p:nvPr/>
        </p:nvSpPr>
        <p:spPr>
          <a:xfrm>
            <a:off x="1501902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1547622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professores</a:t>
            </a:r>
            <a:endParaRPr lang="pt-BR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2418588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2546604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2592324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com proteção</a:t>
            </a:r>
            <a:endParaRPr lang="pt-BR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463290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2" name="Shape 20"/>
          <p:cNvSpPr/>
          <p:nvPr/>
        </p:nvSpPr>
        <p:spPr>
          <a:xfrm>
            <a:off x="3591306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3637026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famílias</a:t>
            </a:r>
            <a:endParaRPr lang="pt-BR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507992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5" name="Shape 23"/>
          <p:cNvSpPr/>
          <p:nvPr/>
        </p:nvSpPr>
        <p:spPr>
          <a:xfrm>
            <a:off x="4636008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em equipes</a:t>
            </a:r>
            <a:endParaRPr lang="pt-BR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552694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28" name="Shape 26"/>
          <p:cNvSpPr/>
          <p:nvPr/>
        </p:nvSpPr>
        <p:spPr>
          <a:xfrm>
            <a:off x="5680710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726430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líderes</a:t>
            </a:r>
            <a:endParaRPr lang="pt-BR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597396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31" name="Shape 29"/>
          <p:cNvSpPr/>
          <p:nvPr/>
        </p:nvSpPr>
        <p:spPr>
          <a:xfrm>
            <a:off x="6725412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" name="Text 30"/>
          <p:cNvSpPr txBox="1"/>
          <p:nvPr/>
        </p:nvSpPr>
        <p:spPr>
          <a:xfrm>
            <a:off x="6771132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</a:t>
            </a:r>
            <a:endParaRPr lang="pt-BR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642098" y="42062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900" dirty="0"/>
          </a:p>
        </p:txBody>
      </p:sp>
      <p:sp>
        <p:nvSpPr>
          <p:cNvPr id="34" name="Shape 32"/>
          <p:cNvSpPr/>
          <p:nvPr/>
        </p:nvSpPr>
        <p:spPr>
          <a:xfrm>
            <a:off x="7770114" y="3977640"/>
            <a:ext cx="916686" cy="731520"/>
          </a:xfrm>
          <a:prstGeom prst="roundRect">
            <a:avLst>
              <a:gd name="adj" fmla="val 10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7815834" y="4023360"/>
            <a:ext cx="8252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7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75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A79C64C8-FDB9-C7E8-7634-DDB1A79AF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Semáforo como Instrumento de Cuidado, Não de Controle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ACOMPANHAMENTO: FERRAMENTA PASTORAL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SEMÁFORO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semáforo é uma ferramenta pastoral que ajuda a identificar o estado de vínculo, permanência e necessidade de cuidado. Não é mecanismo de controle, punição ou rotulação. É um instrumento de escuta que protege pessoas.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2340864" cy="457200"/>
          </a:xfrm>
          <a:prstGeom prst="roundRect">
            <a:avLst>
              <a:gd name="adj" fmla="val 12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— Vínculo Ativo</a:t>
            </a:r>
            <a:endParaRPr lang="pt-B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346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regular ou acompanhamento em andamento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responde aos contatos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voluntário observado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definido e aceito</a:t>
            </a:r>
            <a:endParaRPr lang="pt-BR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4164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apoio proporcional e preparar transferência</a:t>
            </a:r>
            <a:endParaRPr lang="pt-BR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219456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Shape 13"/>
          <p:cNvSpPr/>
          <p:nvPr/>
        </p:nvSpPr>
        <p:spPr>
          <a:xfrm>
            <a:off x="3401568" y="2286000"/>
            <a:ext cx="2340864" cy="457200"/>
          </a:xfrm>
          <a:prstGeom prst="roundRect">
            <a:avLst>
              <a:gd name="adj" fmla="val 12000"/>
            </a:avLst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— Sinais de Enfraquecimento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8346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Ausências repetidas sem justificativa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resposta a convites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rotina ou comportamento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dificuldade ou desinteresse</a:t>
            </a:r>
            <a:endParaRPr lang="pt-BR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04164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respeitoso em até sete dias; oferecer apoio; identificar barreira</a:t>
            </a:r>
            <a:endParaRPr lang="pt-BR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19456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Shape 18"/>
          <p:cNvSpPr/>
          <p:nvPr/>
        </p:nvSpPr>
        <p:spPr>
          <a:xfrm>
            <a:off x="6236208" y="2286000"/>
            <a:ext cx="2340864" cy="457200"/>
          </a:xfrm>
          <a:prstGeom prst="roundRect">
            <a:avLst>
              <a:gd name="adj" fmla="val 12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— Atenção Pastoral Urgente</a:t>
            </a:r>
            <a:endParaRPr lang="pt-BR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8346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prolongada ou rompimento de contato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explícito para pausar contatos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que exige atenção pastoral (crise, risco, abuso)</a:t>
            </a:r>
            <a:endParaRPr lang="pt-BR" sz="9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grave ou ameaça</a:t>
            </a:r>
            <a:endParaRPr lang="pt-BR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041648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</a:t>
            </a:r>
            <a:r>
              <a:rPr lang="pt-BR" sz="9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imediatamente ao pastor; encaminhar a profissional se necessário; proteger pessoa</a:t>
            </a:r>
            <a:endParaRPr lang="pt-BR" sz="9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4217DA22-D9A1-E80F-6E96-EFCC8EA1C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Semáforo como Instrumento de Cuidado, Não de Controle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ACOMPANHAMENTO: FERRAMENTA PASTORAL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RESPOSTA — AMARELO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identificar amarelo: líder faz contato respeitoso em até sete dias, por visita segura, ligação ou mensagem. Pergunta como está, oferece apoio específico, identifica a barreira e define próximo passo.</a:t>
            </a:r>
            <a:endParaRPr lang="pt-BR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RESPOSTA — VERMELHO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identificar vermelho: comunica imediatamente ao diácono, presbítero, co-pastor ou pastor responsável. A pessoa pode pedir que os contatos parem; isso deve ser respeitado e registrado.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DE CAUSAS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1012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semáforo diferencia ausência por doença, trabalho, luto, mudança, cuidado familiar, dificuldade de transporte, conflito, desinteresse ou outras causas. O objetivo é oferecer cuidado adequado, não concluir automaticamente que houve abandono espiritual.</a:t>
            </a:r>
            <a:endParaRPr lang="pt-BR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MÍNIMO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31012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responsável, forma de contato, resposta geral, necessidade percebida e próximo passo. Não registrar detalhes íntimos desnecessários. Casos de risco, violência, abuso, crise grave, ameaça ou sofrimento intenso são encaminhados imediatamente ao pastor e às autoridades competentes.</a:t>
            </a:r>
            <a:endParaRPr lang="pt-BR" sz="9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8EB772ED-D3BE-08E7-2288-48EFF4DD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Dimensões de Indicadores: Não Isolados, Combinados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SUCESSO: ATIVIDADE, PROCESSO E RESULTADO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1 — Indicadores de Atividade</a:t>
            </a:r>
            <a:endParaRPr lang="pt-BR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b="1" i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realizado? Quantas ações aconteceram?</a:t>
            </a:r>
            <a:endParaRPr lang="pt-BR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9456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Lares visitados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realizados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que aceitaram oração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iniciados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de equipe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treinados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apoio ativos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distribuídos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 serviço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de acompanhamento</a:t>
            </a:r>
            <a:endParaRPr lang="pt-BR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2 — Indicadores de Processo e Cuidado</a:t>
            </a:r>
            <a:endParaRPr lang="pt-BR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b="1" i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funciona? As pessoas estão sendo cuidadas?</a:t>
            </a:r>
            <a:endParaRPr lang="pt-BR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9456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com próximo passo definido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realizados no prazo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acompanhados no semáforo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reintegrados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convertidos acompanhados em 3, 6 e 12 meses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com mentoria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Auxiliares em desenvolvimento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encaminhadas adequadamente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segurança tratados</a:t>
            </a:r>
            <a:endParaRPr lang="pt-BR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consolidados e analisados</a:t>
            </a:r>
            <a:endParaRPr lang="pt-BR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3 — Indicadores de Resultado</a:t>
            </a:r>
            <a:endParaRPr lang="pt-BR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b="1" i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discípulo está sendo formado? Qual é o fruto?</a:t>
            </a:r>
            <a:endParaRPr lang="pt-BR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conscientes por Cristo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Batismos realizados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 em 6, 12 e 24 meses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comunhão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voluntária em equipes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espiritual observada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líderes formados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equipes criadas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Discípulos que passam a cuidar de outros</a:t>
            </a:r>
            <a:endParaRPr lang="pt-BR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geral da igreja local</a:t>
            </a:r>
            <a:endParaRPr lang="pt-BR" sz="9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1103E1E-DF7A-8C7A-F80C-71487D69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Dimensões de Indicadores: Não Isolados, Combinados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SUCESSO: ATIVIDADE, PROCESSO E RESULTADO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CRÍTICO — PERMANÊNCIA</a:t>
            </a:r>
            <a:endParaRPr lang="pt-B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916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permanência é o indicador mais importante. A avaliação deve verificar não apenas quantos chegaram, mas quantos permanecem, amadurecem, servem e continuam vinculados à comunidade em 6, 12 e 24 meses.</a:t>
            </a:r>
            <a:endParaRPr lang="pt-BR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indicador isolado define êxito. A avaliação deve combinar indicadores de atividade, processo, cuidado e resultado, além de testemunhos, escuta dos participantes e discernimento pastoral.</a:t>
            </a:r>
            <a:endParaRPr lang="pt-BR" sz="13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D732227-7697-58A2-F669-E6546163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Sem Burocracia: Um Relatório Que Orienta Decisões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UMA PÁGINA: INSTRUMENTO QUE GERA VIDA (1/4)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DO RELATÓRIO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formulário burocrático. É instrumento que gera vida, orienta a próxima ação e comunica o estado real do ciclo de apoio.</a:t>
            </a:r>
            <a:endParaRPr lang="pt-B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RECOMENDADA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514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1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pt-B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04495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regional</a:t>
            </a:r>
            <a:endParaRPr lang="pt-BR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ou igrejas apoiadas</a:t>
            </a:r>
            <a:endParaRPr lang="pt-BR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(mês ou trimestre)</a:t>
            </a:r>
            <a:endParaRPr lang="pt-BR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local</a:t>
            </a:r>
            <a:endParaRPr lang="pt-BR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regional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42316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514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2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04495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planejado para este período? (uma frase)</a:t>
            </a:r>
            <a:endParaRPr lang="pt-BR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514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3</a:t>
            </a:r>
            <a:endParaRPr lang="pt-BR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REALIZADAS</a:t>
            </a:r>
            <a:endParaRPr lang="pt-BR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04495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feito? Campanhas, encontros, treinamentos, visitas, acompanhamentos. (breve descrição)</a:t>
            </a:r>
            <a:endParaRPr lang="pt-BR" sz="105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77233CE-1727-6C19-DCF8-A78D897EB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Sem Burocracia: Um Relatório Que Orienta Decisões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UMA PÁGINA: INSTRUMENTO QUE GERA VIDA (2/4)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4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E EQUIPES</a:t>
            </a:r>
            <a:endParaRPr lang="pt-B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10512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pessoas foram alcançadas?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equipes atuaram?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líderes foram treinados?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auxiliares estão em desenvolvimento?</a:t>
            </a:r>
            <a:endParaRPr lang="pt-BR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280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5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E PERMANÊNCIA</a:t>
            </a:r>
            <a:endParaRPr lang="pt-B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810512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foi cuidado?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se afastando?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contatos foram realizados?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estado do semáforo? (verde, amarelo, vermelho)</a:t>
            </a:r>
            <a:endParaRPr lang="pt-BR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280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6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E TRANSFERÊNCIA</a:t>
            </a:r>
            <a:endParaRPr lang="pt-B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810512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líder está crescendo?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auxiliar em desenvolvimento?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sucessor?</a:t>
            </a:r>
            <a:endParaRPr lang="pt-BR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já consegue agir sem presença regional?</a:t>
            </a:r>
            <a:endParaRPr lang="pt-BR" sz="11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B3E7BC2-EAAC-8320-5174-FBF46D06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Sem Burocracia: Um Relatório Que Orienta Decisões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UMA PÁGINA: INSTRUMENTO QUE GERA VIDA (3/4)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7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630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ENCAMINHAMENTOS</a:t>
            </a:r>
            <a:endParaRPr lang="pt-B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10512"/>
            <a:ext cx="16824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situação que exige cuidado pastoral?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risco, abuso ou conflito?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o encaminhamento?</a:t>
            </a:r>
            <a:endParaRPr lang="pt-BR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280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8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4630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pt-B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1810512"/>
            <a:ext cx="16824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funcionou?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funcionou?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barreira foi encontrada?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ajuste é necessário?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56816" cy="3429000"/>
          </a:xfrm>
          <a:prstGeom prst="roundRect">
            <a:avLst>
              <a:gd name="adj" fmla="val 373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1280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9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4630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pt-B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1810512"/>
            <a:ext cx="16824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(ampliar), adaptar (ajustar), manter (continuar igual), pausar (interromper temporariamente) ou encerrar (concluir ciclo)?</a:t>
            </a:r>
            <a:endParaRPr lang="pt-BR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75104" cy="3429000"/>
          </a:xfrm>
          <a:prstGeom prst="roundRect">
            <a:avLst>
              <a:gd name="adj" fmla="val 37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12801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10</a:t>
            </a:r>
            <a:endParaRPr lang="pt-BR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146304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NECESSÁRIO</a:t>
            </a:r>
            <a:endParaRPr lang="pt-BR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810512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próximo passo? Que recurso, mentoria ou capacitação é necessária?</a:t>
            </a:r>
            <a:endParaRPr lang="pt-BR" sz="10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642EA552-09BD-3855-A56C-50EE3E93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Sem Burocracia: Um Relatório Que Orienta Decisões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UMA PÁGINA: INSTRUMENTO QUE GERA VIDA (4/4)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DO RELATÓRIO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página: conciso, sem detalhes desnecessários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Protegido: informações pessoais não circulam em grupos abertos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cada campo responde a uma pergunta da missão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Prático: gera decisão, não apenas informação</a:t>
            </a:r>
            <a:endParaRPr lang="pt-BR" sz="10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ou trimestral: frequência que permite ajuste rápido</a:t>
            </a:r>
            <a:endParaRPr lang="pt-BR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PERGUNTA ORIENTADORA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planejamos? O que fizemos? Quem foi cuidado? Quem está se distanciando? Que resposta foi dada? O que aprendemos? Qual é o próximo passo? Que apoio é necessário?"</a:t>
            </a:r>
            <a:endParaRPr lang="pt-BR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611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86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servem à vida, não à burocracia. Se uma informação não orienta a próxima ação pastoral, não precisa ser registrada.</a:t>
            </a:r>
            <a:endParaRPr lang="pt-BR" sz="1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749B2E0-01CE-E220-AEAC-E76FC01D30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Regional Transfere Capacidade em Três Etapas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TRANSFERÊNCIA: TRÊS VISITAS, UMA TRANSFORMAÇÃO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transferência de capacidade é o objetivo final de toda atuação regional. Não é suficiente que o regional execute bem; é necessário que a liderança local aprenda, pratique e assuma progressivamente a responsabilidade.</a:t>
            </a:r>
            <a:endParaRPr lang="pt-BR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E8C766"/>
          </a:solidFill>
          <a:ln w="12700">
            <a:solidFill>
              <a:srgbClr val="E8C76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VISITA</a:t>
            </a:r>
            <a:endParaRPr lang="pt-BR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pt-BR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6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14"/>
          <p:cNvSpPr/>
          <p:nvPr/>
        </p:nvSpPr>
        <p:spPr>
          <a:xfrm>
            <a:off x="3429000" y="3383280"/>
            <a:ext cx="457200" cy="45720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VISITA</a:t>
            </a:r>
            <a:endParaRPr lang="pt-BR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Condução Conjunta</a:t>
            </a:r>
            <a:endParaRPr lang="pt-BR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6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pt-BR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30175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Shape 20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401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TERCEIRA VISITA</a:t>
            </a:r>
            <a:endParaRPr lang="pt-BR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e Feedback</a:t>
            </a:r>
            <a:endParaRPr lang="pt-BR" sz="13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AD22AD01-D7E4-622B-FD77-14615E22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Regional Transfere Capacidade em Três Etapas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TRANSFERÊNCIA: TRÊS VISITAS, UMA TRANSFORMAÇÃO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Visita — Modelagem</a:t>
            </a:r>
            <a:endParaRPr lang="pt-BR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1051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líder regional demonstra a prática com qualidade, enquanto o líder local observa e aprende.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como se faz, responder dúvidas, criar confiança.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líder local: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Observar, fazer perguntas, compreender o processo.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viu como fizemos? Qual parte ficou clara? Qual parte precisa de mais explicação?"</a:t>
            </a:r>
            <a:endParaRPr lang="pt-BR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Visita — Condução Conjunta</a:t>
            </a:r>
            <a:endParaRPr lang="pt-BR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1051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 e líder regional conduzem juntos. O local toma a frente; o regional oferece suporte.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com segurança, receber feedback em tempo real, ganhar confiança.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líder local: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 a atividade com o regional ao lado, pronto para ajudar.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conseguiu fazer isso sozinho. Aqui você poderia melhorar. Que tal tentarmos de novo?"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Terceira Visita — Observação e Feedback</a:t>
            </a:r>
            <a:endParaRPr lang="pt-BR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10512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 conduz sozinho. Líder regional observa, registra e oferece feedback específico.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autonomia, identificar ajustes finais, preparar encerramento.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líder local: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 de forma independente.</a:t>
            </a:r>
            <a:endParaRPr lang="pt-BR" sz="950"/>
          </a:p>
          <a:p>
            <a:pPr marL="0" indent="0">
              <a:spcAft>
                <a:spcPts val="500"/>
              </a:spcAft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fez muito bem. Aqui está uma sugestão. Você está pronto para continuar sozinho?"</a:t>
            </a:r>
            <a:endParaRPr lang="pt-BR" sz="9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05BBFFA-9B2B-F9AA-A56E-2EF907B41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Ministério Regional Transfere Capacidade em Três Etapas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TRANSFERÊNCIA: TRÊS VISITAS, UMA TRANSFORMAÇÃO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PRONTIDÃO PARA TRANSFERÊNCIA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 conduz com qualidade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ou sucessor está em desenvolvimento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são claros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cuidado são respeitados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básicos são mantidos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consegue avaliar e corrigir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 agenda são sustentáveis</a:t>
            </a:r>
            <a:endParaRPr lang="pt-BR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RESPONSÁVEL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abandono; é conclusão de uma etapa. A igreja continua integrada à rede regional e pode solicitar novos ciclos conforme necessidade.</a:t>
            </a:r>
            <a:endParaRPr lang="pt-BR" sz="15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F52E92F-8929-1E56-F6C2-6E49525C7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e Corrigir Dependência Permanente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EVITANDO DEPENDÊNCIA: SINAIS DE ALERTA (1/2)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DEPENDÊNCIA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ocorre quando a equipe local não consegue agir sem presença regional, quando o regional continua executando tarefas que deveriam ser locais, ou quando a liderança local não foi formada.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3225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1</a:t>
            </a:r>
            <a:endParaRPr lang="pt-BR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24871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PERMANENTE</a:t>
            </a:r>
            <a:endParaRPr lang="pt-BR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281635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regional continua fazendo a atividade mês após mês, sem redução de presença ou transferência de responsabilidade.</a:t>
            </a:r>
            <a:endParaRPr lang="pt-BR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22402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3419856" y="23225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2</a:t>
            </a:r>
            <a:endParaRPr lang="pt-BR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19856" y="24871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SUCESSOR</a:t>
            </a:r>
            <a:endParaRPr lang="pt-BR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19856" y="281635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auxiliar ou sucessor em desenvolvimento; tudo depende de uma pessoa.</a:t>
            </a:r>
            <a:endParaRPr lang="pt-BR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2257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3</a:t>
            </a:r>
            <a:endParaRPr lang="pt-BR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4871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AUTONOMIA</a:t>
            </a:r>
            <a:endParaRPr lang="pt-BR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81635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local não toma decisões, não resolve problemas, não avalia o próprio trabalho.</a:t>
            </a:r>
            <a:endParaRPr lang="pt-BR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Text 20"/>
          <p:cNvSpPr txBox="1"/>
          <p:nvPr/>
        </p:nvSpPr>
        <p:spPr>
          <a:xfrm>
            <a:off x="585216" y="355701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4</a:t>
            </a:r>
            <a:endParaRPr lang="pt-BR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7216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INADEQUADOS</a:t>
            </a:r>
            <a:endParaRPr lang="pt-BR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" y="40507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não mantém informações básicas; tudo é feito de cabeça ou depende do regional.</a:t>
            </a:r>
            <a:endParaRPr lang="pt-BR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474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3419856" y="355701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5</a:t>
            </a:r>
            <a:endParaRPr lang="pt-BR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419856" y="37216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AVALIAÇÃO</a:t>
            </a:r>
            <a:endParaRPr lang="pt-BR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419856" y="40507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reflexão sobre o que funciona, o que não funciona e como melhorar.</a:t>
            </a:r>
            <a:endParaRPr lang="pt-BR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4747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" name="Text 28"/>
          <p:cNvSpPr txBox="1"/>
          <p:nvPr/>
        </p:nvSpPr>
        <p:spPr>
          <a:xfrm>
            <a:off x="6254496" y="355701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6</a:t>
            </a:r>
            <a:endParaRPr lang="pt-BR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54496" y="37216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SEM CAPACIDADE</a:t>
            </a:r>
            <a:endParaRPr lang="pt-BR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40507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regional quer ampliar ações sem que as atuais tenham sido transferidas.</a:t>
            </a:r>
            <a:endParaRPr lang="pt-BR" sz="95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1A64D3E4-349C-CFE1-672D-533D487BD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e Corrigir Dependência Permanente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EVITANDO DEPENDÊNCIA: SINAIS DE ALERTA (2/2)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CORRIGIR DEPENDÊNCIA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558138" cy="2286000"/>
          </a:xfrm>
          <a:prstGeom prst="roundRect">
            <a:avLst>
              <a:gd name="adj" fmla="val 469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99616"/>
            <a:ext cx="1302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pt-BR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664208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148840"/>
            <a:ext cx="130210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claramente que há dependência; não negar nem minimizar.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2125066" y="1417320"/>
            <a:ext cx="1558138" cy="2286000"/>
          </a:xfrm>
          <a:prstGeom prst="roundRect">
            <a:avLst>
              <a:gd name="adj" fmla="val 469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2253082" y="1499616"/>
            <a:ext cx="1302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pt-BR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253082" y="1664208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53082" y="2148840"/>
            <a:ext cx="130210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 com a liderança local sobre a situação, sem culpa, mas com clareza.</a:t>
            </a:r>
            <a:endParaRPr lang="pt-BR" sz="1000" dirty="0"/>
          </a:p>
        </p:txBody>
      </p:sp>
      <p:sp>
        <p:nvSpPr>
          <p:cNvPr id="15" name="Shape 13"/>
          <p:cNvSpPr/>
          <p:nvPr/>
        </p:nvSpPr>
        <p:spPr>
          <a:xfrm>
            <a:off x="3792931" y="1417320"/>
            <a:ext cx="1558138" cy="2286000"/>
          </a:xfrm>
          <a:prstGeom prst="roundRect">
            <a:avLst>
              <a:gd name="adj" fmla="val 469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3920947" y="1499616"/>
            <a:ext cx="1302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pt-BR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920947" y="1664208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REPLANEJAR</a:t>
            </a:r>
            <a:endParaRPr lang="pt-B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920947" y="2148840"/>
            <a:ext cx="130210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novo ciclo com objetivo explícito de transferência em prazo determinado.</a:t>
            </a:r>
            <a:endParaRPr lang="pt-BR" sz="1000" dirty="0"/>
          </a:p>
        </p:txBody>
      </p:sp>
      <p:sp>
        <p:nvSpPr>
          <p:cNvPr id="19" name="Shape 17"/>
          <p:cNvSpPr/>
          <p:nvPr/>
        </p:nvSpPr>
        <p:spPr>
          <a:xfrm>
            <a:off x="5460797" y="1417320"/>
            <a:ext cx="1558138" cy="2286000"/>
          </a:xfrm>
          <a:prstGeom prst="roundRect">
            <a:avLst>
              <a:gd name="adj" fmla="val 469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5588813" y="1499616"/>
            <a:ext cx="1302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pt-BR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588813" y="1664208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FORMAÇÃO</a:t>
            </a:r>
            <a:endParaRPr lang="pt-BR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88813" y="2148840"/>
            <a:ext cx="130210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Intensificar treinamento de sucessor, aumentar responsabilidade local, reduzir presença regional.</a:t>
            </a:r>
            <a:endParaRPr lang="pt-BR" sz="1000" dirty="0"/>
          </a:p>
        </p:txBody>
      </p:sp>
      <p:sp>
        <p:nvSpPr>
          <p:cNvPr id="23" name="Shape 21"/>
          <p:cNvSpPr/>
          <p:nvPr/>
        </p:nvSpPr>
        <p:spPr>
          <a:xfrm>
            <a:off x="7128662" y="1417320"/>
            <a:ext cx="1558138" cy="2286000"/>
          </a:xfrm>
          <a:prstGeom prst="roundRect">
            <a:avLst>
              <a:gd name="adj" fmla="val 4695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7256678" y="1499616"/>
            <a:ext cx="13021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pt-BR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256678" y="1664208"/>
            <a:ext cx="1302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 OU PAUSAR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256678" y="2148840"/>
            <a:ext cx="130210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transferência não ocorrer, pausar a ação regional até que haja prontidão.</a:t>
            </a:r>
            <a:endParaRPr lang="pt-BR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9044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PRUDENCIAL</a:t>
            </a:r>
            <a:endParaRPr lang="pt-BR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preferível um ciclo menor, bem acompanhado e transferido, do que uma expansão ampla sem cuidado, sucessão ou prestação de contas.</a:t>
            </a:r>
            <a:endParaRPr lang="pt-BR" sz="115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5E2D23A7-150A-E324-BD21-F871068FF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Compartilhando Recursos Sem Criar Dependência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SOLUÇÃO PARA IGREJAS PEQUENAS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CLUSTER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é uma estratégia na qual duas ou três igrejas pequenas compartilham um mentor regional, uma capacitação, materiais aprovados e, quando necessário, uma ação de campo conjunta.</a:t>
            </a:r>
            <a:endParaRPr lang="pt-BR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custo fixo, evitar importar estrutura que a igreja não consegue sustentar, criar rede de aprendizagem entre igrejas e fortalecer lideranças locais.</a:t>
            </a:r>
            <a:endParaRPr lang="pt-BR"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E0FA879-9A73-D00D-F534-4FE4AA82C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Compartilhando Recursos Sem Criar Dependência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SOLUÇÃO PARA IGREJAS PEQUENAS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4173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Igrejas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41732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duas ou três igrejas próximas geograficamente, com necessidade similar e lideranças dispostas a aprender juntas.</a:t>
            </a:r>
            <a:endParaRPr lang="pt-BR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05740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Único</a:t>
            </a:r>
            <a:endParaRPr lang="pt-B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205740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líder regional acompanha as três igrejas, reduzindo custo e criando consistência.</a:t>
            </a:r>
            <a:endParaRPr lang="pt-BR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9748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Conjunto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69748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Capacitação, treinamento ou ação de serviço realizada com líderes das três igrejas.</a:t>
            </a:r>
            <a:endParaRPr lang="pt-BR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34747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375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Local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154680" y="333756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igreja adapta o aprendizado à sua realidade, sem esperar que tudo seja igual.</a:t>
            </a:r>
            <a:endParaRPr lang="pt-BR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411480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97764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Integrado</a:t>
            </a:r>
            <a:endParaRPr lang="pt-BR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3977640"/>
            <a:ext cx="5394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mensais podem ser conjuntas ou individuais, conforme necessidade.</a:t>
            </a:r>
            <a:endParaRPr lang="pt-BR" sz="105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62086071-9FF1-3700-F734-E02545DA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Compartilhando Recursos Sem Criar Dependência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SOLUÇÃO PARA IGREJAS PEQUENAS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DO CLUSTER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custo de mentor regional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rede de aprendizagem entre igrejas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estrutura pesada para igrejas pequenas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compartilhamento de recursos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 lideranças locais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replicação de boas práticas</a:t>
            </a:r>
            <a:endParaRPr lang="pt-BR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transformar cluster em competição entre igrejas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cada igreja tenha liderança local designada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ritmo e realidade de cada uma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que uma igreja domine as outras</a:t>
            </a:r>
            <a:endParaRPr lang="pt-BR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acompanhamento individual quando necessário</a:t>
            </a:r>
            <a:endParaRPr lang="pt-BR" sz="1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913EB3A-3D94-7D8C-4B6E-12150D87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Garantindo Segurança em Todas as Ações Regionais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 SEGURANÇA: PROTOCOLOS ESSENCIAIS (1/4)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FUNDAMENTAL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missão cristã não autoriza imprudência. Proteção de pessoas, especialmente crianças e adolescentes, é responsabilidade inegociável.</a:t>
            </a:r>
            <a:endParaRPr lang="pt-BR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30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VISITAS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245973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26243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OU EQUIPE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95351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devem ser feitas preferencialmente em dupla ou equipe. Nunca sozinho, especialmente em situações de risco.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45973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26243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95351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Endereço, horário e responsáveis são comunicados à liderança local. Não é pedido de autorização; é orientação para suporte.</a:t>
            </a:r>
            <a:endParaRPr lang="pt-BR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85216" y="364845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</a:t>
            </a:r>
            <a:endParaRPr lang="pt-BR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85216" y="381304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LOCAL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85216" y="414223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se o local é seguro. Evitar horários de risco. Respeitar privacidade e limites.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91456" y="364845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</a:t>
            </a:r>
            <a:endParaRPr lang="pt-BR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791456" y="381304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</a:t>
            </a:r>
            <a:endParaRPr lang="pt-BR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791456" y="414223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para visitar. Respeitar recusa. Não insistir.</a:t>
            </a:r>
            <a:endParaRPr lang="pt-BR" sz="10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0717C5E-7622-BAAC-1B55-283030C52B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Garantindo Segurança em Todas as Ações Regionais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 SEGURANÇA: PROTOCOLOS ESSENCIAIS (2/4)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CONTATO COM CRIANÇAS E ADOLESCENTES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996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</a:t>
            </a:r>
            <a:endParaRPr lang="pt-BR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DOS RESPONSÁVEIS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99339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contato sem consentimento explícito dos pais ou responsáveis.</a:t>
            </a:r>
            <a:endParaRPr lang="pt-BR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4791456" y="14996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</a:t>
            </a:r>
            <a:endParaRPr lang="pt-BR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 DE ADULTOS HABILITADOS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99339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 nunca em situação individual sem proteção adequada.</a:t>
            </a:r>
            <a:endParaRPr lang="pt-BR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585216" y="314553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</a:t>
            </a:r>
            <a:endParaRPr lang="pt-BR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85216" y="33101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CONTATO</a:t>
            </a:r>
            <a:endParaRPr lang="pt-B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" y="363931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claramente como será o contato (encontro, grupo, atividade). Comunicar aos responsáveis.</a:t>
            </a:r>
            <a:endParaRPr lang="pt-BR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314553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</a:t>
            </a:r>
            <a:endParaRPr lang="pt-BR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33101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DESLOCAMENTO</a:t>
            </a:r>
            <a:endParaRPr lang="pt-BR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91456" y="363931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deslocamento, comunicar rota, horário, responsáveis e forma de retorno.</a:t>
            </a:r>
            <a:endParaRPr lang="pt-BR" sz="115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BA6CDB72-0E8F-7D0E-2A7C-D4B6638900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Garantindo Segurança em Todas as Ações Regionais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 SEGURANÇA: PROTOCOLOS ESSENCIAIS (3/4)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CONFIDENCIALIDADE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996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</a:t>
            </a:r>
            <a:endParaRPr lang="pt-BR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MÍNIMA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199339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apenas informações necessárias. Não fazer pesquisa invasiva.</a:t>
            </a:r>
            <a:endParaRPr lang="pt-BR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4791456" y="149961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</a:t>
            </a:r>
            <a:endParaRPr lang="pt-BR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SEGURO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99339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dados em local restrito. Não circular informações pessoais em grupos abertos.</a:t>
            </a:r>
            <a:endParaRPr lang="pt-BR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585216" y="314553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</a:t>
            </a:r>
            <a:endParaRPr lang="pt-BR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85216" y="33101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LIMITADO</a:t>
            </a:r>
            <a:endParaRPr lang="pt-B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" y="363931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informações apenas com quem precisa cuidar ou decidir.</a:t>
            </a:r>
            <a:endParaRPr lang="pt-BR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314553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</a:t>
            </a:r>
            <a:endParaRPr lang="pt-BR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33101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PARA DIVULGAÇÃO</a:t>
            </a:r>
            <a:endParaRPr lang="pt-BR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91456" y="363931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nomes, telefones, endereços e testemunhos só são divulgados com consentimento específico.</a:t>
            </a:r>
            <a:endParaRPr lang="pt-BR" sz="115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802373D-B227-9C3C-5E88-22502273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Garantindo Segurança em Todas as Ações Regionais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 SEGURANÇA: PROTOCOLOS ESSENCIAIS (4/4)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QUE EXIGEM ENCAMINHAMENTO IMEDIATO</a:t>
            </a:r>
            <a:endParaRPr lang="pt-BR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físico, sexual ou emocional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Violência doméstica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ou risco de suicídio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ou crime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de saúde mental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Negligência de criança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situação que ultrapasse competência do voluntário</a:t>
            </a:r>
            <a:endParaRPr lang="pt-BR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pessoa imediatamente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ao pastor-presidente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Acionar serviço competente (polícia, conselho tutelar, saúde mental)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investigar sozinho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prometer sigilo absoluto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encaminhamento</a:t>
            </a:r>
            <a:endParaRPr lang="pt-BR" sz="115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com cuidado</a:t>
            </a:r>
            <a:endParaRPr lang="pt-BR" sz="11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FC50788-B30C-CCE1-3445-9F797D806C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Igreja Cuida de Quem Cuida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DOS CUIDADORES: PREVENÇÃO DO ESGOTAMENTO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Voluntários e líderes que servem precisam de cuidado, supervisão, descanso e apoio. Negligenciar isso gera esgotamento, afastamento e perda de capacidade.</a:t>
            </a:r>
            <a:endParaRPr lang="pt-BR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50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ESGOTAMENTO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72491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Cansaço persistente</a:t>
            </a:r>
            <a:endParaRPr lang="pt-BR" sz="1150" dirty="0"/>
          </a:p>
        </p:txBody>
      </p:sp>
      <p:sp>
        <p:nvSpPr>
          <p:cNvPr id="12" name="Shape 10"/>
          <p:cNvSpPr/>
          <p:nvPr/>
        </p:nvSpPr>
        <p:spPr>
          <a:xfrm>
            <a:off x="2542032" y="272491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72491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entusiasmo</a:t>
            </a:r>
            <a:endParaRPr lang="pt-BR" sz="1150" dirty="0"/>
          </a:p>
        </p:txBody>
      </p:sp>
      <p:sp>
        <p:nvSpPr>
          <p:cNvPr id="14" name="Shape 12"/>
          <p:cNvSpPr/>
          <p:nvPr/>
        </p:nvSpPr>
        <p:spPr>
          <a:xfrm>
            <a:off x="4626864" y="272491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272491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social</a:t>
            </a:r>
            <a:endParaRPr lang="pt-BR" sz="1150" dirty="0"/>
          </a:p>
        </p:txBody>
      </p:sp>
      <p:sp>
        <p:nvSpPr>
          <p:cNvPr id="16" name="Shape 14"/>
          <p:cNvSpPr/>
          <p:nvPr/>
        </p:nvSpPr>
        <p:spPr>
          <a:xfrm>
            <a:off x="6711696" y="272491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6821424" y="272491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Irritabilidade</a:t>
            </a:r>
            <a:endParaRPr lang="pt-BR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8503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68503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Negligência de responsabilidades</a:t>
            </a:r>
            <a:endParaRPr lang="pt-BR" sz="1150" dirty="0"/>
          </a:p>
        </p:txBody>
      </p:sp>
      <p:sp>
        <p:nvSpPr>
          <p:cNvPr id="20" name="Shape 18"/>
          <p:cNvSpPr/>
          <p:nvPr/>
        </p:nvSpPr>
        <p:spPr>
          <a:xfrm>
            <a:off x="2542032" y="368503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68503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limites (trabalha demais)</a:t>
            </a:r>
            <a:endParaRPr lang="pt-BR" sz="1150" dirty="0"/>
          </a:p>
        </p:txBody>
      </p:sp>
      <p:sp>
        <p:nvSpPr>
          <p:cNvPr id="22" name="Shape 20"/>
          <p:cNvSpPr/>
          <p:nvPr/>
        </p:nvSpPr>
        <p:spPr>
          <a:xfrm>
            <a:off x="4626864" y="368503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368503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Desejo de abandonar</a:t>
            </a:r>
            <a:endParaRPr lang="pt-BR" sz="1150" dirty="0"/>
          </a:p>
        </p:txBody>
      </p:sp>
      <p:sp>
        <p:nvSpPr>
          <p:cNvPr id="24" name="Shape 22"/>
          <p:cNvSpPr/>
          <p:nvPr/>
        </p:nvSpPr>
        <p:spPr>
          <a:xfrm>
            <a:off x="6711696" y="3685032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3685032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saúde</a:t>
            </a:r>
            <a:endParaRPr lang="pt-BR" sz="115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009A684-3DF6-8EFD-33C6-996D2BFB8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Igreja Cuida de Quem Cuida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DOS CUIDADORES: PREVENÇÃO DO ESGOTAMENTO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1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REVEZAMENTO</a:t>
            </a:r>
            <a:endParaRPr lang="pt-BR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2024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deixar a mesma pessoa carregar tudo. Distribuir responsabilidades.</a:t>
            </a:r>
            <a:endParaRPr lang="pt-BR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27101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2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43560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pt-BR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92024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líderes tenham tempo de descanso, férias e pausa.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27101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3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43560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</a:t>
            </a:r>
            <a:endParaRPr lang="pt-BR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92024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regular, escuta de dificuldades, oferta de apoio.</a:t>
            </a:r>
            <a:endParaRPr lang="pt-BR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127101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4</a:t>
            </a:r>
            <a:endParaRPr lang="pt-BR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43560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CONTÍNUO</a:t>
            </a:r>
            <a:endParaRPr lang="pt-BR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192024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que renova, motiva e oferece ferramentas.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0540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5</a:t>
            </a:r>
            <a:endParaRPr lang="pt-BR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" y="32186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COMUNHÃO E ORAÇÃO</a:t>
            </a:r>
            <a:endParaRPr lang="pt-BR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" y="370332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de equipe que incluem oração, partilha e fortalecimento espiritual.</a:t>
            </a:r>
            <a:endParaRPr lang="pt-BR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30540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6</a:t>
            </a:r>
            <a:endParaRPr lang="pt-BR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32186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pt-BR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670048" y="370332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 o trabalho, agradecer, reconhecer contribuição.</a:t>
            </a:r>
            <a:endParaRPr lang="pt-BR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30540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7</a:t>
            </a:r>
            <a:endParaRPr lang="pt-BR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32186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DE PAUSA</a:t>
            </a:r>
            <a:endParaRPr lang="pt-BR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70332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alguém pause temporariamente sem culpa ou pressão.</a:t>
            </a:r>
            <a:endParaRPr lang="pt-BR" sz="100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305409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8</a:t>
            </a:r>
            <a:endParaRPr lang="pt-BR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839712" y="32186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 PROFISSIONAL</a:t>
            </a:r>
            <a:endParaRPr lang="pt-BR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39712" y="3703320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necessário, oferecer acesso a aconselhamento, terapia ou apoio especializado.</a:t>
            </a:r>
            <a:endParaRPr lang="pt-BR" sz="100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E44E11F9-BBEC-A84C-000E-FCE97E1C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Igreja Cuida de Quem Cuida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DOS CUIDADORES: PREVENÇÃO DO ESGOTAMENTO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CUIDADO DE LÍDERES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Frequência: </a:t>
            </a: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ou conforme necessidade</a:t>
            </a:r>
            <a:endParaRPr lang="pt-BR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41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4320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Pastor-presidente, presbíteros e diáconos são responsáveis por garantir que líderes e voluntários sejam cuidados, não apenas utilizados.</a:t>
            </a:r>
            <a:endParaRPr lang="pt-BR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com oração</a:t>
            </a:r>
            <a:endParaRPr lang="pt-BR" sz="12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 de dificuldades</a:t>
            </a:r>
            <a:endParaRPr lang="pt-BR" sz="12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necessidades</a:t>
            </a:r>
            <a:endParaRPr lang="pt-BR" sz="12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prático e espiritual</a:t>
            </a:r>
            <a:endParaRPr lang="pt-BR" sz="12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Celebração de vitórias</a:t>
            </a:r>
            <a:endParaRPr lang="pt-BR" sz="12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pt-BR" sz="12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com bênção</a:t>
            </a:r>
            <a:endParaRPr lang="pt-BR" sz="12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4D52D14-91AB-AAC7-6864-21704F5C4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Fidelidade, Saúde e Fruto Sem Pressão Numérica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ANUAL: REVISÃO, APRENDIZADO E DECISÃO (1/4)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54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DA AVALIAÇÃO</a:t>
            </a:r>
            <a:endParaRPr lang="pt-B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para punir ou pressionar. É para aprender, corrigir, celebrar e decidir os próximos passos com sabedoria.</a:t>
            </a:r>
            <a:endParaRPr lang="pt-BR" sz="2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CA74547-6FCD-683E-5A2A-0170EF4E8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Fidelidade, Saúde e Fruto Sem Pressão Numérica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ANUAL: REVISÃO, APRENDIZADO E DECISÃO (2/4)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CENTRAIS DE AVALIAÇÃO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48640" y="143560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3258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Bíblica: </a:t>
            </a:r>
            <a:r>
              <a:rPr lang="pt-BR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e a Escritura governaram a mensagem e as decisões?</a:t>
            </a:r>
            <a:endParaRPr lang="pt-BR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Shape 10"/>
          <p:cNvSpPr/>
          <p:nvPr/>
        </p:nvSpPr>
        <p:spPr>
          <a:xfrm>
            <a:off x="548640" y="198424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18745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Espiritual: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oração, discernimento e espaço para a ação do Espírito Santo?</a:t>
            </a:r>
            <a:endParaRPr lang="pt-BR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24231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Relacional: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foram conhecidas, ouvidas, respeitadas e cuidadas sem manipulação?</a:t>
            </a:r>
            <a:endParaRPr lang="pt-BR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Shape 18"/>
          <p:cNvSpPr/>
          <p:nvPr/>
        </p:nvSpPr>
        <p:spPr>
          <a:xfrm>
            <a:off x="548640" y="308152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2971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do Caminho: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recebeu um próximo passo compreensível e voluntário?</a:t>
            </a:r>
            <a:endParaRPr lang="pt-BR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35204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Discipulado Real: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obediência, caráter, comunhão, serviço e participação na missão?</a:t>
            </a:r>
            <a:endParaRPr lang="pt-BR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" y="4069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dos Vulneráveis: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Indecisos, afastados, crianças, idosos e pessoas com deficiência foram acompanhados com responsabilidade?</a:t>
            </a:r>
            <a:endParaRPr lang="pt-BR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32588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" name="Shape 30"/>
          <p:cNvSpPr/>
          <p:nvPr/>
        </p:nvSpPr>
        <p:spPr>
          <a:xfrm>
            <a:off x="4754880" y="143560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138928" y="13258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igreja acompanhou e respondeu ao enfraquecimento do vínculo antes que se tornasse afastamento?</a:t>
            </a:r>
            <a:endParaRPr lang="pt-BR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87452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6" name="Shape 34"/>
          <p:cNvSpPr/>
          <p:nvPr/>
        </p:nvSpPr>
        <p:spPr>
          <a:xfrm>
            <a:off x="4754880" y="198424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138928" y="18745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Líderes: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equipe possui mentoria, auxiliar e sucessor em desenvolvimento?</a:t>
            </a:r>
            <a:endParaRPr lang="pt-BR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42316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0" name="Shape 38"/>
          <p:cNvSpPr/>
          <p:nvPr/>
        </p:nvSpPr>
        <p:spPr>
          <a:xfrm>
            <a:off x="4754880" y="253288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1" name="Text 39"/>
          <p:cNvSpPr txBox="1"/>
          <p:nvPr/>
        </p:nvSpPr>
        <p:spPr>
          <a:xfrm>
            <a:off x="475488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138928" y="24231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discípulos e líderes passaram a servir e a formar outros?</a:t>
            </a:r>
            <a:endParaRPr lang="pt-BR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97180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4" name="Shape 42"/>
          <p:cNvSpPr/>
          <p:nvPr/>
        </p:nvSpPr>
        <p:spPr>
          <a:xfrm>
            <a:off x="4754880" y="308152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5" name="Text 43"/>
          <p:cNvSpPr txBox="1"/>
          <p:nvPr/>
        </p:nvSpPr>
        <p:spPr>
          <a:xfrm>
            <a:off x="475488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138928" y="2971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da Liderança: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limites, descanso, partilha de responsabilidades e prevenção do esgotamento?</a:t>
            </a:r>
            <a:endParaRPr lang="pt-BR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52044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" name="Shape 46"/>
          <p:cNvSpPr/>
          <p:nvPr/>
        </p:nvSpPr>
        <p:spPr>
          <a:xfrm>
            <a:off x="4754880" y="3630168"/>
            <a:ext cx="292608" cy="29260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138928" y="35204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Transparência: </a:t>
            </a: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Recursos, metas e resultados foram registrados e comunicados com honestidade?</a:t>
            </a:r>
            <a:endParaRPr lang="pt-BR" sz="950" dirty="0"/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0B033573-78A4-DFB6-D870-C30424C74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Fidelidade, Saúde e Fruto Sem Pressão Numérica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ANUAL: REVISÃO, APRENDIZADO E DECISÃO (3/4)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AVALIAÇÃO: SETE ETAPAS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39903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</a:t>
            </a:r>
            <a:endParaRPr lang="pt-BR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1325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indicadores de atividade, processo, cuidado, permanência, liderança e fruto.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81508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188823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1888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8150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</a:t>
            </a:r>
            <a:endParaRPr lang="pt-BR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181508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equipes, líderes, pessoas alcançadas. Que dizem sobre a experiência?</a:t>
            </a:r>
            <a:endParaRPr lang="pt-BR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37744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COMBINADA</a:t>
            </a:r>
            <a:endParaRPr lang="pt-BR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23042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usar números isolados. Combinar dados, testemunhos, observação pastoral e discernimento.</a:t>
            </a:r>
            <a:endParaRPr lang="pt-BR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9349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286664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866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7934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APRENDIZADOS</a:t>
            </a:r>
            <a:endParaRPr lang="pt-BR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971800" y="279349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funcionou? O que não funcionou? Por quê? Que barreira foi encontrada?</a:t>
            </a:r>
            <a:endParaRPr lang="pt-BR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8269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335584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pt-BR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971800" y="328269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análise, decidir: escalar (ampliar), adaptar (ajustar), manter (continuar igual), pausar (interromper temporariamente) ou encerrar (concluir ciclo)?</a:t>
            </a:r>
            <a:endParaRPr lang="pt-BR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7719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" name="Shape 31"/>
          <p:cNvSpPr/>
          <p:nvPr/>
        </p:nvSpPr>
        <p:spPr>
          <a:xfrm>
            <a:off x="566928" y="38450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3845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37719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CELEBRAÇÃO</a:t>
            </a:r>
            <a:endParaRPr lang="pt-BR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2971800" y="37719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Agradecer a Deus, reconhecer o trabalho, celebrar aprendizados.</a:t>
            </a:r>
            <a:endParaRPr lang="pt-BR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26110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8" name="Shape 36"/>
          <p:cNvSpPr/>
          <p:nvPr/>
        </p:nvSpPr>
        <p:spPr>
          <a:xfrm>
            <a:off x="566928" y="43342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4261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pt-BR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971800" y="42611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próximos passos com realismo, sustentabilidade e foco em capacidade local.</a:t>
            </a:r>
            <a:endParaRPr lang="pt-BR" sz="95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4A446D5D-AF32-64CF-C8C7-7AA7FFCC6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Fidelidade, Saúde e Fruto Sem Pressão Numérica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ANUAL: REVISÃO, APRENDIZADO E DECISÃO (4/4)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AVALIAÇÃO ANUAL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4572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responder: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planejamos?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foi cuidado?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se distanciando?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resposta foi dada?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próximo passo?</a:t>
            </a:r>
            <a:endParaRPr lang="pt-BR" sz="12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apoio é necessário?</a:t>
            </a:r>
            <a:endParaRPr lang="pt-BR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2353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60020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trimestral para ajustes rápidos; avaliação anual para decisões estratégicas.</a:t>
            </a:r>
            <a:endParaRPr lang="pt-BR"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3790A76-F857-9412-853B-06037C67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Sem Competição: Cada Ministério Sabe Seu Papel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ENTRE MINISTÉRIOS: EVITANDO DUPLICIDADE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ministérios regionais podem trabalhar isoladamente, duplicando esforços, competindo por igrejas ou criando confusão sobre papéis.</a:t>
            </a:r>
            <a:endParaRPr lang="pt-B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— ARTICULAÇÃO COLEGIADA: REUNIÃO TRIMESTRAL DE MINISTÉRIOS REGIONAIS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TRIMESTRAL</a:t>
            </a:r>
            <a:endParaRPr lang="pt-B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815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Frequência: </a:t>
            </a: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três meses</a:t>
            </a:r>
            <a:endParaRPr lang="pt-BR" sz="1100"/>
          </a:p>
          <a:p>
            <a:pPr marL="0" indent="0">
              <a:buNone/>
            </a:pPr>
            <a:r>
              <a:rPr lang="pt-BR" sz="11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Participantes: </a:t>
            </a: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de todos os ministérios regionais + Diretoria Regional</a:t>
            </a:r>
            <a:endParaRPr lang="pt-BR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69748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7889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</a:t>
            </a:r>
            <a:endParaRPr lang="pt-BR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3081528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planos e ações</a:t>
            </a:r>
            <a:endParaRPr lang="pt-BR" sz="10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duplicidade</a:t>
            </a:r>
            <a:endParaRPr lang="pt-BR" sz="10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 de apoios</a:t>
            </a:r>
            <a:endParaRPr lang="pt-BR" sz="10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integrado</a:t>
            </a:r>
            <a:endParaRPr lang="pt-BR" sz="10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comuns</a:t>
            </a:r>
            <a:endParaRPr lang="pt-BR" sz="10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 e ajustes</a:t>
            </a:r>
            <a:endParaRPr lang="pt-BR" sz="105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20FE99D-4EF5-D84C-B790-547281209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Sem Competição: Cada Ministério Sabe Seu Papel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ENTRE MINISTÉRIOS: EVITANDO DUPLICIDADE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RESPONSABILIDADES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28346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ministério regional define claramente:</a:t>
            </a:r>
            <a:endParaRPr lang="pt-BR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seu papel no Projeto Sementes?</a:t>
            </a:r>
            <a:endParaRPr lang="pt-BR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seu produto para a igreja local?</a:t>
            </a:r>
            <a:endParaRPr lang="pt-BR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seu indicador de sucesso?</a:t>
            </a:r>
            <a:endParaRPr lang="pt-BR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integra com outros ministérios?</a:t>
            </a:r>
            <a:endParaRPr lang="pt-BR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seu ciclo de atuação?</a:t>
            </a:r>
            <a:endParaRPr lang="pt-BR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transfere capacidade?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EVITANDO COMPETIÇÃO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1417320"/>
            <a:ext cx="484632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Shape 9"/>
          <p:cNvSpPr/>
          <p:nvPr/>
        </p:nvSpPr>
        <p:spPr>
          <a:xfrm>
            <a:off x="3950208" y="155448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395020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41732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COMPLEMENTARIDADE</a:t>
            </a:r>
            <a:endParaRPr lang="pt-BR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41732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ministério tem um papel específico; nenhum substitui outro.</a:t>
            </a:r>
            <a:endParaRPr lang="pt-BR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057400"/>
            <a:ext cx="484632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14"/>
          <p:cNvSpPr/>
          <p:nvPr/>
        </p:nvSpPr>
        <p:spPr>
          <a:xfrm>
            <a:off x="3950208" y="219456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05740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pt-BR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20574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 ação em uma igreja, comunicar aos demais ministérios.</a:t>
            </a:r>
            <a:endParaRPr lang="pt-BR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697480"/>
            <a:ext cx="484632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1" name="Shape 19"/>
          <p:cNvSpPr/>
          <p:nvPr/>
        </p:nvSpPr>
        <p:spPr>
          <a:xfrm>
            <a:off x="3950208" y="283464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Text 20"/>
          <p:cNvSpPr txBox="1"/>
          <p:nvPr/>
        </p:nvSpPr>
        <p:spPr>
          <a:xfrm>
            <a:off x="3950208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26974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INTEGRADO</a:t>
            </a:r>
            <a:endParaRPr lang="pt-BR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26974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sobrecarregar uma igreja com múltiplas ações simultâneas.</a:t>
            </a:r>
            <a:endParaRPr lang="pt-BR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337560"/>
            <a:ext cx="4846320" cy="585216"/>
          </a:xfrm>
          <a:prstGeom prst="roundRect">
            <a:avLst>
              <a:gd name="adj" fmla="val 125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Shape 24"/>
          <p:cNvSpPr/>
          <p:nvPr/>
        </p:nvSpPr>
        <p:spPr>
          <a:xfrm>
            <a:off x="3950208" y="34747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333756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ÚNICA</a:t>
            </a:r>
            <a:endParaRPr lang="pt-BR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333756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tem um responsável; não há ambiguidade.</a:t>
            </a:r>
            <a:endParaRPr lang="pt-BR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3977640"/>
            <a:ext cx="484632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1" name="Shape 29"/>
          <p:cNvSpPr/>
          <p:nvPr/>
        </p:nvSpPr>
        <p:spPr>
          <a:xfrm>
            <a:off x="3950208" y="411480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2" name="Text 30"/>
          <p:cNvSpPr txBox="1"/>
          <p:nvPr/>
        </p:nvSpPr>
        <p:spPr>
          <a:xfrm>
            <a:off x="395020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39776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CONJUNTA</a:t>
            </a:r>
            <a:endParaRPr lang="pt-BR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397764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são avaliados em conjunto, não isoladamente.</a:t>
            </a:r>
            <a:endParaRPr lang="pt-BR" sz="100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C740FDCD-F859-0484-09E4-D9B7D84C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Sem Competição: Cada Ministério Sabe Seu Papel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ENTRE MINISTÉRIOS: EVITANDO DUPLICIDADE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INTEGRAÇÃO — IGREJA A RECEBE APOIO INTEGRADO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554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1-2</a:t>
            </a:r>
            <a:endParaRPr lang="pt-BR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1042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Evangelismo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 equipes de Campanha de Oração no Lar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1850746" y="146304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1960474" y="1554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2-3</a:t>
            </a:r>
            <a:endParaRPr lang="pt-BR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960474" y="1828800"/>
            <a:ext cx="1042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Discipulado Um</a:t>
            </a:r>
            <a:endParaRPr lang="pt-BR" sz="1050" dirty="0"/>
          </a:p>
        </p:txBody>
      </p:sp>
      <p:sp>
        <p:nvSpPr>
          <p:cNvPr id="13" name="Shape 11"/>
          <p:cNvSpPr/>
          <p:nvPr/>
        </p:nvSpPr>
        <p:spPr>
          <a:xfrm>
            <a:off x="3244291" y="146304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3354019" y="1554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3-4</a:t>
            </a:r>
            <a:endParaRPr lang="pt-BR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54019" y="1828800"/>
            <a:ext cx="1042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 jovens para as campanhas</a:t>
            </a:r>
            <a:endParaRPr lang="pt-BR" sz="1050" dirty="0"/>
          </a:p>
        </p:txBody>
      </p:sp>
      <p:sp>
        <p:nvSpPr>
          <p:cNvPr id="16" name="Shape 14"/>
          <p:cNvSpPr/>
          <p:nvPr/>
        </p:nvSpPr>
        <p:spPr>
          <a:xfrm>
            <a:off x="4637837" y="146304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 txBox="1"/>
          <p:nvPr/>
        </p:nvSpPr>
        <p:spPr>
          <a:xfrm>
            <a:off x="4747565" y="1554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4-5</a:t>
            </a:r>
            <a:endParaRPr lang="pt-BR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47565" y="1828800"/>
            <a:ext cx="1042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círculos de intercessão</a:t>
            </a:r>
            <a:endParaRPr lang="pt-BR" sz="1050" dirty="0"/>
          </a:p>
        </p:txBody>
      </p:sp>
      <p:sp>
        <p:nvSpPr>
          <p:cNvPr id="19" name="Shape 17"/>
          <p:cNvSpPr/>
          <p:nvPr/>
        </p:nvSpPr>
        <p:spPr>
          <a:xfrm>
            <a:off x="6031382" y="146304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6141110" y="1554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5-6</a:t>
            </a:r>
            <a:endParaRPr lang="pt-BR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141110" y="1828800"/>
            <a:ext cx="1042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Acolhimento </a:t>
            </a: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novos membros</a:t>
            </a:r>
            <a:endParaRPr lang="pt-BR" sz="1050" dirty="0"/>
          </a:p>
        </p:txBody>
      </p:sp>
      <p:sp>
        <p:nvSpPr>
          <p:cNvPr id="22" name="Shape 20"/>
          <p:cNvSpPr/>
          <p:nvPr/>
        </p:nvSpPr>
        <p:spPr>
          <a:xfrm>
            <a:off x="7424928" y="146304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21"/>
          <p:cNvSpPr txBox="1"/>
          <p:nvPr/>
        </p:nvSpPr>
        <p:spPr>
          <a:xfrm>
            <a:off x="7534656" y="1554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9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6+</a:t>
            </a:r>
            <a:endParaRPr lang="pt-BR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534656" y="1828800"/>
            <a:ext cx="1042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conjunta </a:t>
            </a:r>
            <a:r>
              <a:rPr lang="pt-BR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decisão sobre próximos passos</a:t>
            </a:r>
            <a:endParaRPr lang="pt-BR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pt-BR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51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trabalham para o mesmo objetivo: fazer discípulos.</a:t>
            </a:r>
            <a:endParaRPr lang="pt-BR" sz="150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3497C9A1-83AE-5C09-DD1E-8CE8EDEB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Diretoria Regional Acompanha e Apoia os Ministérios Regionais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REGIONAL: PAPEL DE COORDENAÇÃO E SUPERVISÃO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DA DIRETORIA REGIONAL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47218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DIRETRIZES</a:t>
            </a:r>
            <a:endParaRPr lang="pt-BR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32588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critérios comuns, prioridades regionais, padrões de qualidade e alinhamento com Filosofia e Projeto.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1305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842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PLANOS</a:t>
            </a:r>
            <a:endParaRPr lang="pt-BR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98424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ministério regional apresenta plano anual; Diretoria aprova, sugere ajustes ou rejeita se desalinhado.</a:t>
            </a:r>
            <a:endParaRPr lang="pt-BR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4261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INDICADORES</a:t>
            </a:r>
            <a:endParaRPr lang="pt-BR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264261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dados agregados de atividade, processo, cuidado, permanência e fruto. Não expõe igrejas ou pessoas.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009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TREINAMENTO</a:t>
            </a:r>
            <a:endParaRPr lang="pt-BR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30098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capacitação, mentoria, intercâmbio entre ministérios e atualização contínua.</a:t>
            </a:r>
            <a:endParaRPr lang="pt-BR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41056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95935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MINISTÉRIOS</a:t>
            </a:r>
            <a:endParaRPr lang="pt-BR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337560" y="395935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duplicidade, cria sinergia, resolve conflitos de agenda ou responsabilidade.</a:t>
            </a:r>
            <a:endParaRPr lang="pt-BR" sz="10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DD0FCDDF-7E34-2510-5A93-4ADB03DE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Diretoria Regional Acompanha e Apoia os Ministérios Regionais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REGIONAL: PAPEL DE COORDENAÇÃO E SUPERVISÃO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DA DIRETORIA REGIONAL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IGREJAS COM DIFICULDADES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325880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ação regional não está funcionando, intervém para proteger a igreja, ajustar plano ou encerrar.</a:t>
            </a:r>
            <a:endParaRPr lang="pt-BR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16712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CONFIDENCIALIDADE</a:t>
            </a:r>
            <a:endParaRPr lang="pt-B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167128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informações pessoais com segurança. Relatórios não circulam em grupos abertos.</a:t>
            </a:r>
            <a:endParaRPr lang="pt-BR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323697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00837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SUSTENTABILIDADE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3008376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estruturas de apoio são financeiramente viáveis e não sobrecarregam a Convenção.</a:t>
            </a:r>
            <a:endParaRPr lang="pt-BR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962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407822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84962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PERIODICAMENTE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849624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revisão anual do projeto, critérios, necessidades e ajusta conforme aprendizados.</a:t>
            </a:r>
            <a:endParaRPr lang="pt-BR" sz="11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773CE8F0-B8F5-84F8-1E9E-DEE7D53B3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Diretoria Regional Acompanha e Apoia os Ministérios Regionais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REGIONAL: PAPEL DE COORDENAÇÃO E SUPERVISÃO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MENSAL DE DIRETORIA REGIONAL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4572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Frequência: </a:t>
            </a: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(ou conforme necessidade)</a:t>
            </a:r>
            <a:endParaRPr lang="pt-BR" sz="1100" dirty="0"/>
          </a:p>
          <a:p>
            <a:pPr marL="0" indent="0">
              <a:spcAft>
                <a:spcPts val="400"/>
              </a:spcAft>
              <a:buNone/>
            </a:pPr>
            <a:r>
              <a:rPr lang="pt-BR" sz="11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Sugerida: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das igrejas locais (breve relato)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agregados de indicadores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dos ministérios regionais (avanços e desafios)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 soluções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priorização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transferência</a:t>
            </a:r>
            <a:endParaRPr lang="pt-BR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 e ajustes</a:t>
            </a:r>
            <a:endParaRPr lang="pt-BR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3108960" cy="3429000"/>
          </a:xfrm>
          <a:prstGeom prst="roundRect">
            <a:avLst>
              <a:gd name="adj" fmla="val 2353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ESSENCIAL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60020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Diretoria Regional não substitui a responsabilidade pastoral e ministerial da igreja local. Oferece direção, capacitação e apoio, respeitando a realidade e os limites de cada igreja.</a:t>
            </a:r>
            <a:endParaRPr lang="pt-BR" sz="12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D3B010E-A2EE-D592-DA45-FE97A122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Sem Competição: Cada Ministério Sabe Seu Papel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TRIMESTRAL DE MINISTÉRIOS REGIONAIS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REUNIÃO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múltiplos ministérios regionais trabalhem de forma integrada, sem duplicidade, competição ou confusão sobre papéis.</a:t>
            </a:r>
            <a:endParaRPr lang="pt-BR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três meses (trimestral)</a:t>
            </a:r>
            <a:endParaRPr lang="pt-BR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2432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de todos os ministérios regionais</a:t>
            </a:r>
            <a:endParaRPr lang="pt-BR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da Diretoria Regional</a:t>
            </a:r>
            <a:endParaRPr lang="pt-BR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Secretário para registrar decisões</a:t>
            </a:r>
            <a:endParaRPr lang="pt-BR" sz="12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6A41445-633D-6671-92B9-5E1A5A643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Sem Competição: Cada Ministério Sabe Seu Papel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TRIMESTRAL DE MINISTÉRIOS REGIONAIS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SUGERIDA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975104" cy="3291840"/>
          </a:xfrm>
          <a:prstGeom prst="roundRect">
            <a:avLst>
              <a:gd name="adj" fmla="val 37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10 minutos</a:t>
            </a:r>
            <a:endParaRPr lang="pt-BR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103120"/>
            <a:ext cx="17190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</a:t>
            </a:r>
            <a:endParaRPr lang="pt-BR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bíblica sobre unidade</a:t>
            </a:r>
            <a:endParaRPr lang="pt-BR" sz="1050" dirty="0"/>
          </a:p>
        </p:txBody>
      </p:sp>
      <p:sp>
        <p:nvSpPr>
          <p:cNvPr id="11" name="Shape 9"/>
          <p:cNvSpPr/>
          <p:nvPr/>
        </p:nvSpPr>
        <p:spPr>
          <a:xfrm>
            <a:off x="2542032" y="1325880"/>
            <a:ext cx="1975104" cy="3291840"/>
          </a:xfrm>
          <a:prstGeom prst="roundRect">
            <a:avLst>
              <a:gd name="adj" fmla="val 37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20 minutos</a:t>
            </a:r>
            <a:endParaRPr lang="pt-BR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PLANOS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103120"/>
            <a:ext cx="17190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ministério apresenta brevemente:</a:t>
            </a:r>
            <a:endParaRPr lang="pt-BR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Igrejas sendo apoiadas</a:t>
            </a:r>
            <a:endParaRPr lang="pt-BR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planejadas para o próximo trimestre</a:t>
            </a:r>
            <a:endParaRPr lang="pt-BR" sz="10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necessários</a:t>
            </a:r>
            <a:endParaRPr lang="pt-BR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325880"/>
            <a:ext cx="1975104" cy="3291840"/>
          </a:xfrm>
          <a:prstGeom prst="roundRect">
            <a:avLst>
              <a:gd name="adj" fmla="val 37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15 minutos</a:t>
            </a:r>
            <a:endParaRPr lang="pt-BR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DUPLICIDADE</a:t>
            </a:r>
            <a:endParaRPr lang="pt-B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103120"/>
            <a:ext cx="17190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sobreposição de ações?</a:t>
            </a:r>
            <a:endParaRPr lang="pt-BR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conflito de calendário?</a:t>
            </a:r>
            <a:endParaRPr lang="pt-BR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competição por recursos?</a:t>
            </a:r>
            <a:endParaRPr lang="pt-BR" sz="1050" dirty="0"/>
          </a:p>
        </p:txBody>
      </p:sp>
      <p:sp>
        <p:nvSpPr>
          <p:cNvPr id="19" name="Shape 17"/>
          <p:cNvSpPr/>
          <p:nvPr/>
        </p:nvSpPr>
        <p:spPr>
          <a:xfrm>
            <a:off x="6711696" y="1325880"/>
            <a:ext cx="1975104" cy="3291840"/>
          </a:xfrm>
          <a:prstGeom prst="roundRect">
            <a:avLst>
              <a:gd name="adj" fmla="val 370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20 minutos</a:t>
            </a:r>
            <a:endParaRPr lang="pt-BR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 DE APOIOS</a:t>
            </a:r>
            <a:endParaRPr lang="pt-BR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2103120"/>
            <a:ext cx="17190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ministérios podem trabalhar juntos?</a:t>
            </a:r>
            <a:endParaRPr lang="pt-BR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sequência lógica?</a:t>
            </a:r>
            <a:endParaRPr lang="pt-BR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lidera cada ação?</a:t>
            </a:r>
            <a:endParaRPr lang="pt-BR" sz="105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9B060DA-0308-B356-D4AC-870181DC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Sem Competição: Cada Ministério Sabe Seu Papel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TRIMESTRAL DE MINISTÉRIOS REGIONAIS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SUGERIDA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975104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10 minutos</a:t>
            </a:r>
            <a:endParaRPr lang="pt-BR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INTEGRADO</a:t>
            </a:r>
            <a:endParaRPr lang="pt-BR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103120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o calendário regional para evitar sobrecarga.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325880"/>
            <a:ext cx="1975104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10 minutos</a:t>
            </a:r>
            <a:endParaRPr lang="pt-BR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COMUNS</a:t>
            </a:r>
            <a:endParaRPr lang="pt-BR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103120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quais igrejas ou públicos receberão ênfase no próximo trimestre.</a:t>
            </a:r>
            <a:endParaRPr lang="pt-BR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325880"/>
            <a:ext cx="1975104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10 minutos</a:t>
            </a:r>
            <a:endParaRPr lang="pt-BR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 E AJUSTES</a:t>
            </a:r>
            <a:endParaRPr lang="pt-B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103120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 bem? O que precisa mudar?</a:t>
            </a:r>
            <a:endParaRPr lang="pt-BR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1325880"/>
            <a:ext cx="1975104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40817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5 minutos</a:t>
            </a:r>
            <a:endParaRPr lang="pt-BR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1572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pt-BR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2103120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próxima reunião</a:t>
            </a:r>
            <a:endParaRPr lang="pt-BR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</a:t>
            </a:r>
            <a:endParaRPr lang="pt-BR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pt-BR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da reunião, cada ministério sabe:</a:t>
            </a:r>
            <a:endParaRPr lang="pt-BR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vai atuar no próximo trimestre</a:t>
            </a:r>
            <a:endParaRPr lang="pt-BR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trabalhar com outros ministérios</a:t>
            </a:r>
            <a:endParaRPr lang="pt-BR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seu indicador de sucesso</a:t>
            </a:r>
            <a:endParaRPr lang="pt-BR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será a próxima avaliação</a:t>
            </a:r>
            <a:endParaRPr lang="pt-BR" sz="11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53BFCEFC-AD69-C1E9-883E-60412D27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Estruturando o Ano com Realismo e Foco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ANUAL: COMO COMEÇAR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FILOSOFIA E PROJETO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planejar ações, revisar: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Filosofia da Semente?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Projeto Sementes?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ministérios regionais cooperam?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nosso papel específico?</a:t>
            </a:r>
            <a:endParaRPr lang="pt-BR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ANTERIORES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informações do ano anterior: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ações foram realizadas?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o resultado?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permanência?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lições aprendemos?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mudar?</a:t>
            </a:r>
            <a:endParaRPr lang="pt-BR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REGIONAL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pastores, líderes e igrejas: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necessidade real?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funcionando?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está funcionando?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prioridade?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capacidade de cada igreja?</a:t>
            </a:r>
            <a:endParaRPr lang="pt-BR" sz="11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D9A1B11-F4B5-65D5-AF5F-A319B93B8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Estruturando o Ano com Realismo e Foco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ANUAL: COMO COMEÇAR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PRIORIDADES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três a cinco prioridades realistas: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tentar fazer tudo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em necessidades reais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capacidade regional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com Filosofia e Projeto</a:t>
            </a:r>
            <a:endParaRPr lang="pt-BR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IGREJAS E RESPONSÁVEIS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quais igrejas receberão apoio em cada ministério:</a:t>
            </a:r>
            <a:endParaRPr lang="pt-BR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A: Evangelismo (primeira ação)</a:t>
            </a:r>
            <a:endParaRPr lang="pt-BR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B: Ensino (aprofundamento)</a:t>
            </a:r>
            <a:endParaRPr lang="pt-BR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C: Jovens (formação de líderes)</a:t>
            </a:r>
            <a:endParaRPr lang="pt-BR" sz="11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 D: Ação social (piloto)</a:t>
            </a:r>
            <a:endParaRPr lang="pt-BR" sz="1150"/>
          </a:p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mentor regional responsável por cada ação.</a:t>
            </a:r>
            <a:endParaRPr lang="pt-BR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CALENDÁRIO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sobrecarga de uma única igreja com múltiplas ações simultâneas. Coordenar com Diretoria Regional e demais ministérios para garantir sequência lógica.</a:t>
            </a:r>
            <a:endParaRPr lang="pt-BR" sz="11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8D1E4B55-EB91-4FFD-C78B-5CCC4B4A07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Estruturando o Ano com Realismo e Foco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ANUAL: COMO COMEÇAR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INDICADORES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ação, definir: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atividade (o que será realizado)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processo (como será acompanhado)</a:t>
            </a:r>
            <a:endParaRPr lang="pt-BR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resultado (que tipo de discípulo será formado)</a:t>
            </a:r>
            <a:endParaRPr lang="pt-BR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E RECURSOS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materiais, deslocamento, treinamento e contingência. Apresentar à Diretoria Regional para aprovação.</a:t>
            </a:r>
            <a:endParaRPr lang="pt-BR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9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TRIMESTRAL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momentos de revisão a cada três meses para ajustes rápidos, não esperar até o final do ano.</a:t>
            </a:r>
            <a:endParaRPr lang="pt-BR" sz="11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9A356E35-03CD-2AC2-18C3-027B72B0A7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Começar: Nove Verificações Essenciais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PRONTIDÃO PARA INICIAR UM CICLO (1/3)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1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COMUM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Pastor-presidente e liderança entendem a finalidade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Objetivo, escopo e prazo estão claros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foram alinhadas</a:t>
            </a:r>
            <a:endParaRPr lang="pt-BR" sz="130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2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DESIGNAÇÃO DE RESPONSÁVEIS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local foi designado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ou sucessor foi identificado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regional foi confirmado</a:t>
            </a:r>
            <a:endParaRPr lang="pt-BR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3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APROVADOS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Roteiros, estudos e conteúdo foram aprovados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estão disponíveis e acessíveis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alteração de doutrina</a:t>
            </a:r>
            <a:endParaRPr lang="pt-BR" sz="13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CE3268AA-E37E-0EAD-93D9-26EB24BB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Começar: Nove Verificações Essenciais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PRONTIDÃO PARA INICIAR UM CICLO (2/3)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4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PRÁTICO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recebeu orientação teórica e prática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ou dramatização foi realizada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foi oferecido</a:t>
            </a:r>
            <a:endParaRPr lang="pt-BR" sz="130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5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PROTEÇÃO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visitas foi explicado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 privacidade foram definidos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contato com crianças foram comunicadas</a:t>
            </a:r>
            <a:endParaRPr lang="pt-BR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6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ENCAMINHAMENTO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sabe como encaminhar dúvidas pastorais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de risco têm caminho claro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Pastor-presidente foi informado</a:t>
            </a:r>
            <a:endParaRPr lang="pt-BR" sz="13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E98819F-B330-1ABF-1DEB-FCF84BD6F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Começar: Nove Verificações Essenciais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PRONTIDÃO PARA INICIAR UM CICLO (3/3)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7</a:t>
            </a:r>
            <a:endParaRPr lang="pt-BR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 SUSTENTABILIDADE</a:t>
            </a:r>
            <a:endParaRPr lang="pt-B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foi aprovado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é compatível com realidade local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Voluntários têm disponibilidade realista</a:t>
            </a:r>
            <a:endParaRPr lang="pt-BR" sz="1300" dirty="0"/>
          </a:p>
        </p:txBody>
      </p:sp>
      <p:sp>
        <p:nvSpPr>
          <p:cNvPr id="10" name="Shape 8"/>
          <p:cNvSpPr/>
          <p:nvPr/>
        </p:nvSpPr>
        <p:spPr>
          <a:xfrm>
            <a:off x="3236976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8</a:t>
            </a:r>
            <a:endParaRPr lang="pt-BR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DEFINIDO</a:t>
            </a:r>
            <a:endParaRPr lang="pt-B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mentoria foi marcada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primeira revisão foi agendada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comunicação foi estabelecida</a:t>
            </a:r>
            <a:endParaRPr lang="pt-BR" sz="1300" dirty="0"/>
          </a:p>
        </p:txBody>
      </p:sp>
      <p:sp>
        <p:nvSpPr>
          <p:cNvPr id="14" name="Shape 12"/>
          <p:cNvSpPr/>
          <p:nvPr/>
        </p:nvSpPr>
        <p:spPr>
          <a:xfrm>
            <a:off x="6016752" y="118872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1271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9</a:t>
            </a:r>
            <a:endParaRPr lang="pt-BR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3560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CELEBRAÇÃO E ORAÇÃO</a:t>
            </a:r>
            <a:endParaRPr lang="pt-B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965960"/>
            <a:ext cx="24140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foi comissionada em oração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espirituais foram comunicadas</a:t>
            </a:r>
            <a:endParaRPr lang="pt-BR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sz="13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em Deus foi enfatizada</a:t>
            </a:r>
            <a:endParaRPr lang="pt-BR" sz="13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F82E461-9860-6918-B18F-C67134F77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PERGUNTA DECISIVA (1/6)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63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</a:t>
            </a:r>
            <a:endParaRPr lang="pt-B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7452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que os ministérios regionais atuam em uma igreja, essa igreja fica mais capaz de acolher, cultivar, acompanhar, ensinar, integrar, enviar e multiplicar discípulos com fidelidade, saúde e responsabilidade?</a:t>
            </a:r>
            <a:endParaRPr lang="pt-BR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FFEDBC-E19A-ADDD-B4F6-65D870820E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PERGUNTA DECISIVA (2/6)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SIM, ENTÃO: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Filosofia da Semente deixou de ser apenas discurso e se tornou prática visível. O Projeto Sementes não é um programa paralelo, mas a expressão concreta da missão. Os ministérios regionais não criaram dependência, mas transferiram capacidade. A Diretoria Regional fortaleceu as igrejas locais sem substituir sua responsabilidade pastoral.</a:t>
            </a:r>
            <a:endParaRPr lang="pt-BR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NÃO, ENTÃO: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necessário revisar:</a:t>
            </a:r>
            <a:endParaRPr lang="pt-BR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alinhamento entre Filosofia e Projeto está claro?</a:t>
            </a:r>
            <a:endParaRPr lang="pt-BR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ministérios regionais estão focados em transferência ou em execução direta?</a:t>
            </a:r>
            <a:endParaRPr lang="pt-BR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Diretoria Regional está acompanhando com cuidado ou apenas cobrando resultados?</a:t>
            </a:r>
            <a:endParaRPr lang="pt-BR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igrejas locais estão recebendo apoio ou imposição?</a:t>
            </a:r>
            <a:endParaRPr lang="pt-BR" sz="12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AF31569-CB1C-E1BD-798B-845AA045CB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PERGUNTA DECISIVA (3/6)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FIDELIDADE VERDADEIRA — UMA IGREJA É CONSIDERADA VIVA NO MODO MISSÃO QUANDO: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47218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Acolhe com genuína hospitalidade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32588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visitantes são recebidos com respeito, conhecidos pelo nome, encaminhados a próximos passos voluntários.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1305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842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 relacionamentos intencionais</a:t>
            </a:r>
            <a:endParaRPr lang="pt-B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19842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membros visitam lares, oram, compartilham a Palavra, escutam dúvidas, não pressionam decisões.</a:t>
            </a:r>
            <a:endParaRPr lang="pt-BR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426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com perseverança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64261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identifica quem está se afastando antes que seja tarde, responde com cuidado, oferece grupos de apoio, reintegra membros antigos.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009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 com clareza bíblica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30098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evangelho é apresentado com verdade, a doutrina é preservada, as dúvidas são respondidas, o batismo é decisão consciente.</a:t>
            </a:r>
            <a:endParaRPr lang="pt-BR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41056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9593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novos membros</a:t>
            </a:r>
            <a:endParaRPr lang="pt-BR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95935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batizados não são deixados sozinhos, aprendem servindo, descobrem seus dons, participam de equipes progressivamente.</a:t>
            </a:r>
            <a:endParaRPr lang="pt-BR" sz="10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5C12A409-A6A3-6A0B-C4BF-D6216FD00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PERGUNTA DECISIVA (4/6)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FIDELIDADE VERDADEIRA — UMA IGREJA É CONSIDERADA VIVA NO MODO MISSÃO QUANDO: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47218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com propósito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32588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membros não são apenas consumidores de atividades, mas semeadores que testificam, visitam, discipulam, servem.</a:t>
            </a:r>
            <a:endParaRPr lang="pt-BR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1305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842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com responsabilidade</a:t>
            </a:r>
            <a:endParaRPr lang="pt-B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19842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novos líderes são formados, auxiliares estão em desenvolvimento, sucessores são preparados, novas equipes surgem.</a:t>
            </a:r>
            <a:endParaRPr lang="pt-BR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426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os vulneráveis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64261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crianças, adolescentes, idosos, pessoas com deficiência, membros fragilizados recebem cuidado especial, segurança, dignidade.</a:t>
            </a:r>
            <a:endParaRPr lang="pt-BR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009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saúde espiritual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30098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há oração, dependência do Espírito Santo, discernimento, correção amorosa, celebração da fidelidade de Deus.</a:t>
            </a:r>
            <a:endParaRPr lang="pt-BR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41056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9593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transparência</a:t>
            </a:r>
            <a:endParaRPr lang="pt-BR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95935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recursos são administrados com honestidade, decisões são comunicadas, relatórios refletem realidade, não há manipulação de dados.</a:t>
            </a:r>
            <a:endParaRPr lang="pt-BR" sz="10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DC174265-B323-C320-FAC9-D4B3D2FFE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PERGUNTA DECISIVA (5/6)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COMPROMISSO FINAL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Diretoria Regional</a:t>
            </a: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compromete-se a servir às igrejas com clareza, capacitação, acompanhamento, transparência e respeito à realidade local.</a:t>
            </a:r>
            <a:endParaRPr lang="pt-BR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ministérios regionais</a:t>
            </a: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comprometem-se a transferir capacidade e não criar dependência.</a:t>
            </a:r>
            <a:endParaRPr lang="pt-BR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298448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4630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igrejas locais</a:t>
            </a: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comprometem-se a viver a Filosofia da Semente como cultura de acolhimento, Palavra, cuidado, formação e missão.</a:t>
            </a:r>
            <a:endParaRPr lang="pt-BR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6499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lideranças</a:t>
            </a: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comprometem-se a proteger pessoas, formar sucessores e prestar contas.</a:t>
            </a:r>
            <a:endParaRPr lang="pt-BR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6499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</a:t>
            </a: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convidado a participar conforme seus dons, limites e chamado.</a:t>
            </a:r>
            <a:endParaRPr lang="pt-BR" sz="125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2357356-5846-4382-1377-6D15B8C25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Importa?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PERGUNTA DECISIVA (6/6)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FINAL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Sementes será considerado fiel quando tornar visível uma igreja que acolhe, cultiva, acompanha, ensina, integra, envia e multiplica, reconhecendo que Deus dá o crescimento.</a:t>
            </a:r>
            <a:endParaRPr lang="pt-BR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sobre números. É sobre discípulos que permanecem em Cristo, amadurecem no caráter, servem com seus dons e ajudam outros a caminhar com Deus.</a:t>
            </a:r>
            <a:endParaRPr lang="pt-BR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88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sobre uma comunidade que não apenas recebe a bênção de Deus, mas participa ativamente de sua missão de reconciliação e transformação.</a:t>
            </a:r>
            <a:endParaRPr lang="pt-BR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788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sobre igrejas vivas, no Modo Missão, semeando a Palavra, cultivando relacionamentos, formando líderes e multiplicando testemunhas de Cristo.</a:t>
            </a:r>
            <a:endParaRPr lang="pt-BR" sz="12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90F8F52-2F2D-294E-A719-928BDAA95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E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Deus nos abençoe nesta jornada. Que nos dê clareza de visão, coragem para agir, sabedoria para acompanhar e fidelidade para transferir.</a:t>
            </a:r>
            <a:endParaRPr lang="pt-BR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Filosofia da Semente deixe de ser apenas uma declaração bonita e se torne a vida respirada, praticada, multiplicada em cada igreja da Convenção Regional Sul-Mato-Grossense.</a:t>
            </a:r>
            <a:endParaRPr lang="pt-BR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6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Multiplicando vidas para o Reino de Deus.</a:t>
            </a:r>
            <a:endParaRPr lang="pt-BR" sz="2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D06A66-1DD1-EA95-8F5E-98EF92445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E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</a:t>
            </a:r>
            <a:endParaRPr lang="pt-B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3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9D58C7-B73E-58FA-1903-A22F3C3A58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(1/9)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FINAL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apresentou uma visão integrada de como os ministérios regionais cooperam para tornar a Filosofia da Semente e o Projeto Sementes realidade nas igrejas locais da Convenção Regional Sul-Mato-Grossense.</a:t>
            </a:r>
            <a:endParaRPr lang="pt-BR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298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manual de procedimentos isolados. É um chamado para que cada ministério, cada pastor, cada líder e cada membro compreenda seu papel em uma missão comum: fazer discípulos de Jesus que fazem discípulos.</a:t>
            </a:r>
            <a:endParaRPr lang="pt-BR" sz="15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6DFCD0E-9946-DBFD-EC2A-2C6716520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(2/9)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MOVIMENTOS INSEPARÁVEIS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Filosofia da Semente</a:t>
            </a:r>
            <a:r>
              <a:rPr lang="pt-BR" sz="15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responde por quê: por que a igreja existe, qual é sua identidade, quais são seus critérios de fidelidade.</a:t>
            </a:r>
            <a:endParaRPr lang="pt-BR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5544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Sementes</a:t>
            </a:r>
            <a:r>
              <a:rPr lang="pt-BR" sz="15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responde como: como organizar ações, equipes, acompanhamentos e avaliações para que a visão se torne prática.</a:t>
            </a:r>
            <a:endParaRPr lang="pt-BR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5544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Ministérios Regionais</a:t>
            </a:r>
            <a:r>
              <a:rPr lang="pt-BR" sz="15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respondem com que apoio: que capacitação, mentoria, materiais e transferência de capacidade as igrejas locais precisam para viver ambos com excelência.</a:t>
            </a:r>
            <a:endParaRPr lang="pt-BR" sz="15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DFC82A1-AE7C-8CFE-2DCE-053F14972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(3/9)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71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Filosofia</a:t>
            </a: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projeto vira ativismo, burocracia, busca de números.</a:t>
            </a:r>
            <a:endParaRPr lang="pt-BR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371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Projeto</a:t>
            </a: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filosofia permanece discurso inspirador sem encarnação prática.</a:t>
            </a:r>
            <a:endParaRPr lang="pt-BR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546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A3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os Ministérios Regionais</a:t>
            </a:r>
            <a:r>
              <a:rPr lang="pt-BR" sz="14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igrejas locais ficam isoladas, sem recursos, sem mentoria, sem rede de aprendizagem.</a:t>
            </a:r>
            <a:endParaRPr lang="pt-BR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Juntos</a:t>
            </a:r>
            <a:r>
              <a:rPr lang="pt-BR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formam um sistema vivo, relacional, multiplicador, que transforma igrejas e pessoas.</a:t>
            </a:r>
            <a:endParaRPr lang="pt-BR" sz="14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B78B691-682A-4C25-5C07-946D81A647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(4/9)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QUE ESTE DOCUMENTO ENFRENTA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47218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Evangelismo sem continuidade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32588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 Projeto oferece jornada contínua do contato ao discipulado.</a:t>
            </a:r>
            <a:endParaRPr lang="pt-BR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1305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842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e convertidos sem acompanhamento</a:t>
            </a:r>
            <a:endParaRPr lang="pt-B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9842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 semáforo e os grupos de apoio garantem cuidado sistemático.</a:t>
            </a:r>
            <a:endParaRPr lang="pt-BR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426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antigos enfraquecidos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64261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permanência é indicador crítico; a igreja acompanha antes que o afastamento ocorra.</a:t>
            </a:r>
            <a:endParaRPr lang="pt-BR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0098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 sobrecarregado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33009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 co-pastorado e a distribuição de responsabilidades compartilham o cuidado.</a:t>
            </a:r>
            <a:endParaRPr lang="pt-BR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41056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959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sem sucessores</a:t>
            </a:r>
            <a:endParaRPr lang="pt-BR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395935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formação de auxiliares e sucessores é prática contínua em cada equipe.</a:t>
            </a:r>
            <a:endParaRPr lang="pt-BR" sz="11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392A4162-11DD-D2DC-DC41-CB05F9E038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(5/9)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QUE ESTE DOCUMENTO ENFRENTA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47218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isolados</a:t>
            </a:r>
            <a:endParaRPr lang="pt-B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32588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matriz de responsabilidades integra todos em uma visão comum.</a:t>
            </a:r>
            <a:endParaRPr lang="pt-BR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21305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842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registros</a:t>
            </a:r>
            <a:endParaRPr lang="pt-B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9842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 relatório de uma página oferece informação útil sem burocracia.</a:t>
            </a:r>
            <a:endParaRPr lang="pt-BR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426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transferência de capacidade</a:t>
            </a:r>
            <a:endParaRPr lang="pt-B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64261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 ciclo de oito fases garante que cada ação termine com autonomia local.</a:t>
            </a:r>
            <a:endParaRPr lang="pt-BR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0098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por resultados numéricos</a:t>
            </a:r>
            <a:endParaRPr lang="pt-BR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33009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avaliação combina atividade, processo, cuidado, permanência e fruto, nunca números isolados.</a:t>
            </a:r>
            <a:endParaRPr lang="pt-BR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41056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959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Negligência de vulneráveis</a:t>
            </a:r>
            <a:endParaRPr lang="pt-BR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395935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Crianças, adolescentes, idosos, pessoas com deficiência, membros fragilizados recebem cuidado especial e proteção.</a:t>
            </a:r>
            <a:endParaRPr lang="pt-BR" sz="11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2ABD57C4-9311-4F92-21A9-2D62B0DB2C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(6/9)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566928" y="139903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PELA CONVENÇÃO REGIONAL</a:t>
            </a:r>
            <a:endParaRPr lang="pt-BR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325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deve ser apresentado, discutido e aprovado pelas instâncias competentes.</a:t>
            </a:r>
            <a:endParaRPr lang="pt-BR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81508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566928" y="188823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1888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8150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DA DIRETORIA REGIONAL</a:t>
            </a:r>
            <a:endParaRPr lang="pt-BR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18150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alinhamento, estudo da Filosofia, Projeto e Apostila, definição de calendário regional.</a:t>
            </a:r>
            <a:endParaRPr lang="pt-BR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566928" y="2377440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DOS MINISTÉRIOS REGIONAIS</a:t>
            </a:r>
            <a:endParaRPr lang="pt-BR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ministério estuda seu papel, seus produtos, seus indicadores e seu ciclo de atuação.</a:t>
            </a:r>
            <a:endParaRPr lang="pt-BR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9349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566928" y="2866644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866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7934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ÀS IGREJAS LOCAIS</a:t>
            </a:r>
            <a:endParaRPr lang="pt-BR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27934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Pastores e lideranças recebem apresentação clara, materiais de estudo, exemplos práticos.</a:t>
            </a:r>
            <a:endParaRPr lang="pt-BR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8269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8" name="Shape 26"/>
          <p:cNvSpPr/>
          <p:nvPr/>
        </p:nvSpPr>
        <p:spPr>
          <a:xfrm>
            <a:off x="566928" y="3355848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282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GRADUAL</a:t>
            </a:r>
            <a:endParaRPr lang="pt-BR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2826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ciclo em igrejas-piloto, aprendizados documentados, ajustes realizados, expansão progressiva.</a:t>
            </a:r>
            <a:endParaRPr lang="pt-BR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7719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4F8F6"/>
          </a:solidFill>
          <a:ln w="12700">
            <a:solidFill>
              <a:srgbClr val="F4F8F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" name="Shape 31"/>
          <p:cNvSpPr/>
          <p:nvPr/>
        </p:nvSpPr>
        <p:spPr>
          <a:xfrm>
            <a:off x="566928" y="3845052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3845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37719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E REVISÃO</a:t>
            </a:r>
            <a:endParaRPr lang="pt-BR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520440" y="37719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trimestrais de ministérios regionais, avaliação anual da Diretoria Regional, revisão bienal do documento.</a:t>
            </a:r>
            <a:endParaRPr lang="pt-BR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26110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8" name="Shape 36"/>
          <p:cNvSpPr/>
          <p:nvPr/>
        </p:nvSpPr>
        <p:spPr>
          <a:xfrm>
            <a:off x="566928" y="4334256"/>
            <a:ext cx="310896" cy="3108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4261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CONTÍNUA</a:t>
            </a:r>
            <a:endParaRPr lang="pt-BR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520440" y="4261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permanente, intercâmbio entre igrejas, celebração de aprendizados, correção de desvios.</a:t>
            </a:r>
            <a:endParaRPr lang="pt-BR" sz="95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C8A865BA-7484-5E8B-BFAE-EC0064E466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(7/9)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FINAL</a:t>
            </a:r>
            <a:endParaRPr lang="pt-B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um convite para que a Convenção Regional Sul-Mato-Grossense das Igrejas Adventista da Promessa viva a Filosofia da Semente não como discurso, mas como prática.</a:t>
            </a:r>
            <a:endParaRPr lang="pt-BR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convite para que cada ministério regional compreenda que sua missão não é executar atividades, mas transferir capacidade.</a:t>
            </a:r>
            <a:endParaRPr lang="pt-BR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convite para que cada pastor-presidente guarde a visão, proteja sua igreja, forme líderes e trabalhe em rede com a Diretoria Regional.</a:t>
            </a:r>
            <a:endParaRPr lang="pt-BR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convite para que cada membro compreenda que é enviado, que tem um papel, que pode orar, acolher, testemunhar, servir, discipular, multiplicar.</a:t>
            </a:r>
            <a:endParaRPr lang="pt-BR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convite para que a igreja local deixe de ser consumidora de programas e se torne comunidade enviada, semeadora de esperança, cultivadora de discípulos, multiplicadora de testemunhas de Cristo.</a:t>
            </a:r>
            <a:endParaRPr lang="pt-BR" sz="11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238EC64-D396-8377-E53A-A063F8434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(8/9)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pt-BR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NOS ACOMPANHA</a:t>
            </a:r>
            <a:endParaRPr lang="pt-BR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32588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discípulos estamos formando?</a:t>
            </a:r>
            <a:endParaRPr lang="pt-BR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84248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igreja estamos nos tornando?</a:t>
            </a:r>
            <a:endParaRPr lang="pt-BR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42616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acolhendo, cultivando, acompanhando, ensinando, integrando, enviando e multiplicando?</a:t>
            </a:r>
            <a:endParaRPr lang="pt-BR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00984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protegendo os vulneráveis, formando líderes, transferindo capacidade?</a:t>
            </a:r>
            <a:endParaRPr lang="pt-BR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59352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vivendo a Filosofia da Semente ou apenas falando sobre ela?</a:t>
            </a:r>
            <a:endParaRPr lang="pt-BR" sz="14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E7EC425-2062-E928-CE23-B618ABE0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200" b="1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Alinhados: Uma Jornada de Transformação</a:t>
            </a:r>
            <a:endParaRPr lang="pt-BR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GERAL DO DOCUMENTO (9/9)</a:t>
            </a:r>
            <a:endParaRPr lang="pt-BR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pt-BR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25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Filosofia da Semente não é nova. Está na Bíblia, está na história da Igreja Adventista da Promessa, está nas convicções mais profundas de cada Promessista.</a:t>
            </a:r>
            <a:endParaRPr lang="pt-BR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325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documento faz é organizar essa visão, torná-la prática, protegê-la de desvios, integrá-la em um sistema vivo.</a:t>
            </a:r>
            <a:endParaRPr lang="pt-BR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Sementes é o caminho. Os Ministérios Regionais são os companheiros de jornada. A Diretoria Regional é o coração que coordena e sustenta.</a:t>
            </a:r>
            <a:endParaRPr lang="pt-BR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cada igreja local é o lugar onde tudo acontece: onde pessoas são acolhidas, onde a Palavra é semeada, onde discípulos são formados, onde a missão de Deus se torna visível.</a:t>
            </a:r>
            <a:endParaRPr lang="pt-BR" sz="12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6324328-701C-C107-AAAC-D54E08399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40" r="63281" b="34987"/>
          <a:stretch>
            <a:fillRect/>
          </a:stretch>
        </p:blipFill>
        <p:spPr>
          <a:xfrm>
            <a:off x="-118744" y="-21919"/>
            <a:ext cx="64624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D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E194B-1FDA-AFE8-8511-0FBC0C89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7B128F-582C-AE2B-D1F6-B89BD10370D2}"/>
              </a:ext>
            </a:extLst>
          </p:cNvPr>
          <p:cNvSpPr txBox="1"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 Regionais Alinhados com a Filosofia da Semente</a:t>
            </a:r>
            <a:endParaRPr lang="pt-BR" sz="36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AE5664-D761-6C59-684B-4E92A83F293A}"/>
              </a:ext>
            </a:extLst>
          </p:cNvPr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Operacionalização da Visão Missional da Convenção Regional</a:t>
            </a:r>
            <a:endParaRPr lang="pt-BR" sz="18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7AD5CA-8F1D-53A3-C8E9-2FEE67D84E1B}"/>
              </a:ext>
            </a:extLst>
          </p:cNvPr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Alinhamento e Capacitação para Líderes Regionais</a:t>
            </a:r>
            <a:endParaRPr lang="pt-BR" sz="13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562DA3-8EF0-7201-7780-45691A53E7E5}"/>
              </a:ext>
            </a:extLst>
          </p:cNvPr>
          <p:cNvSpPr txBox="1"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Regional Sul-Mato-Grossense das Igrejas Adventista da Promessa</a:t>
            </a:r>
            <a:endParaRPr lang="pt-BR" sz="1100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11A0420-911C-4DAA-3E1B-5C65B15213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840" r="4765" b="34987"/>
          <a:stretch>
            <a:fillRect/>
          </a:stretch>
        </p:blipFill>
        <p:spPr>
          <a:xfrm>
            <a:off x="414654" y="22530"/>
            <a:ext cx="3143729" cy="10290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B5D4739C-DB5E-E5A1-7BFD-548784871E92}"/>
              </a:ext>
            </a:extLst>
          </p:cNvPr>
          <p:cNvSpPr txBox="1"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6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Multiplicando vidas para o Reino de Deus.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72213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11282</Words>
  <Application>Microsoft Office PowerPoint</Application>
  <PresentationFormat>Apresentação na tela (16:9)</PresentationFormat>
  <Paragraphs>1714</Paragraphs>
  <Slides>88</Slides>
  <Notes>88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Ministérios Regionais Alinhados com a Filosofia da Semente</dc:title>
  <dc:subject>PptxGenJS Presentation</dc:subject>
  <dc:creator>PptxGenJS</dc:creator>
  <cp:lastModifiedBy>Convenção Regional Sul Matogrossense das Igrejas Adventista Da Promessa</cp:lastModifiedBy>
  <cp:revision>20</cp:revision>
  <dcterms:created xsi:type="dcterms:W3CDTF">2026-09-28T09:37:55Z</dcterms:created>
  <dcterms:modified xsi:type="dcterms:W3CDTF">2026-09-28T18:09:30Z</dcterms:modified>
</cp:coreProperties>
</file>